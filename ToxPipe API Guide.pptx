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7" r:id="rId4"/>
    <p:sldId id="258" r:id="rId5"/>
    <p:sldId id="259" r:id="rId6"/>
    <p:sldId id="261" r:id="rId7"/>
    <p:sldId id="264" r:id="rId8"/>
    <p:sldId id="263" r:id="rId9"/>
    <p:sldId id="266"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59" d="100"/>
          <a:sy n="159" d="100"/>
        </p:scale>
        <p:origin x="150"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B6C5C-5572-AE57-2C7C-695C31A80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43FA54-6293-E895-AC07-54033FBBC0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C030CB-2869-286E-860E-1D8F1FFA226F}"/>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5" name="Footer Placeholder 4">
            <a:extLst>
              <a:ext uri="{FF2B5EF4-FFF2-40B4-BE49-F238E27FC236}">
                <a16:creationId xmlns:a16="http://schemas.microsoft.com/office/drawing/2014/main" id="{174F6431-BBA0-BD65-9C0A-BE7E2F022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E086F-B6A3-D427-C82E-CD86B1C002D3}"/>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3652605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327B3-746D-1518-A611-2EF60A3BFF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9AAB35-9C32-D596-6D8F-F6389604AE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C57D2F-077F-935A-FB06-F038FDB0BB3F}"/>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5" name="Footer Placeholder 4">
            <a:extLst>
              <a:ext uri="{FF2B5EF4-FFF2-40B4-BE49-F238E27FC236}">
                <a16:creationId xmlns:a16="http://schemas.microsoft.com/office/drawing/2014/main" id="{6CCE1CC7-ED33-2937-849A-0EA969B430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F2145E-4DBC-F8A1-F963-6C9E02BB159B}"/>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983334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7554-4FF4-0433-2252-E74FE2DDF0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DCFB58-41F1-4CB4-11F8-F439D46F4F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27F0F7-C6CD-17B1-3A90-43C70C54518B}"/>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5" name="Footer Placeholder 4">
            <a:extLst>
              <a:ext uri="{FF2B5EF4-FFF2-40B4-BE49-F238E27FC236}">
                <a16:creationId xmlns:a16="http://schemas.microsoft.com/office/drawing/2014/main" id="{069109F7-C851-B676-BE55-A8DC7295A0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DB4DDA-AA55-BD25-4930-2E3E41083F54}"/>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239138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81543-BB24-EAD1-C009-2A73E7C617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0C8764-EDEA-73FE-5A7C-5C41C873EC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A29A14-F465-C5A2-E5D5-B97451FB43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114013-DB73-8E5B-3DF9-386EB7456C5F}"/>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6" name="Footer Placeholder 5">
            <a:extLst>
              <a:ext uri="{FF2B5EF4-FFF2-40B4-BE49-F238E27FC236}">
                <a16:creationId xmlns:a16="http://schemas.microsoft.com/office/drawing/2014/main" id="{D02D51DB-5B25-85A4-FFFE-C2B31E20FB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4FC590-F857-5F1A-EA44-83B6674D73A1}"/>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814023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91AC6-C1EF-F8CC-5485-B97703DFAF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AFE1D9-84C1-35AE-2608-018078B8FB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012D8D-99A3-5D77-23CB-9EB7F2C21E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18DE36-E9EB-7831-9A2E-B30BD4ED98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1D47AE-B4B4-2A48-F880-24C7DAE0C7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025180-8042-F55B-5F30-5FDBC36ACA6F}"/>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8" name="Footer Placeholder 7">
            <a:extLst>
              <a:ext uri="{FF2B5EF4-FFF2-40B4-BE49-F238E27FC236}">
                <a16:creationId xmlns:a16="http://schemas.microsoft.com/office/drawing/2014/main" id="{5F473C90-3202-8F54-4E2B-40927EC17C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FEEDFB-A5B7-23B6-3192-4F20163AFA38}"/>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589513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85A50-30CD-A709-D5E0-8A0859C5A8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A0FE93-1E4F-14E0-5296-0D6BC974ABF0}"/>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4" name="Footer Placeholder 3">
            <a:extLst>
              <a:ext uri="{FF2B5EF4-FFF2-40B4-BE49-F238E27FC236}">
                <a16:creationId xmlns:a16="http://schemas.microsoft.com/office/drawing/2014/main" id="{098E90B0-7F81-882F-E290-2642A40575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BB256E-FB42-7197-E843-7D05BEE68162}"/>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586906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40BB06-BF74-CDB2-732A-FD6F52EEBB07}"/>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3" name="Footer Placeholder 2">
            <a:extLst>
              <a:ext uri="{FF2B5EF4-FFF2-40B4-BE49-F238E27FC236}">
                <a16:creationId xmlns:a16="http://schemas.microsoft.com/office/drawing/2014/main" id="{3312BA89-B028-5750-906B-2DC68D9359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1AB3D9-C843-D41B-BAF3-155689B8FB08}"/>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2332223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85452-495C-BBBB-C16F-FC27E7E9ED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D47FCE-BB71-CD17-AFD5-03152B749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E6E406-F252-F044-BA96-2BF37A574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CB776D-8420-BBC5-60A2-29ADDECB5574}"/>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6" name="Footer Placeholder 5">
            <a:extLst>
              <a:ext uri="{FF2B5EF4-FFF2-40B4-BE49-F238E27FC236}">
                <a16:creationId xmlns:a16="http://schemas.microsoft.com/office/drawing/2014/main" id="{FD2FC6A9-0A84-3037-837E-0F901A3AFF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49B4F1-E271-87D6-2F46-0D9A96AFBAAF}"/>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927035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A468D-690E-3F5D-8E1F-040E28B646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E7F72-1004-F8F0-985C-336BEFA116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B32747-3D63-16E8-5EA8-3163485E2E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3CA2D2-85BA-9E74-AEC0-19CFB67E0198}"/>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6" name="Footer Placeholder 5">
            <a:extLst>
              <a:ext uri="{FF2B5EF4-FFF2-40B4-BE49-F238E27FC236}">
                <a16:creationId xmlns:a16="http://schemas.microsoft.com/office/drawing/2014/main" id="{9C42AB81-3301-845A-AA70-A6EAD404E5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5CC8E2-2D1E-DB92-8999-B7D2902E0311}"/>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56002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55D8E-DF3B-A66E-1E39-E16B35A1BE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75D27E-27E9-C725-9DFB-B55569027E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F1B1F-72BA-8BC7-6C18-C457E9017293}"/>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5" name="Footer Placeholder 4">
            <a:extLst>
              <a:ext uri="{FF2B5EF4-FFF2-40B4-BE49-F238E27FC236}">
                <a16:creationId xmlns:a16="http://schemas.microsoft.com/office/drawing/2014/main" id="{2415F362-C40B-5C41-0403-D45DC2D8F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79E84-FF5C-3DE5-F760-7C21ED2B4038}"/>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142922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670F5C-35E7-F37B-8621-D801DCB21F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B2C5FA-E509-8E64-04FF-D344C9F521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630B9F-19FF-2025-45C6-241091C94735}"/>
              </a:ext>
            </a:extLst>
          </p:cNvPr>
          <p:cNvSpPr>
            <a:spLocks noGrp="1"/>
          </p:cNvSpPr>
          <p:nvPr>
            <p:ph type="dt" sz="half" idx="10"/>
          </p:nvPr>
        </p:nvSpPr>
        <p:spPr/>
        <p:txBody>
          <a:bodyPr/>
          <a:lstStyle/>
          <a:p>
            <a:fld id="{2887AE02-B111-4481-B2BD-B82CAADB2540}" type="datetimeFigureOut">
              <a:rPr lang="en-US" smtClean="0"/>
              <a:t>12/12/2024</a:t>
            </a:fld>
            <a:endParaRPr lang="en-US"/>
          </a:p>
        </p:txBody>
      </p:sp>
      <p:sp>
        <p:nvSpPr>
          <p:cNvPr id="5" name="Footer Placeholder 4">
            <a:extLst>
              <a:ext uri="{FF2B5EF4-FFF2-40B4-BE49-F238E27FC236}">
                <a16:creationId xmlns:a16="http://schemas.microsoft.com/office/drawing/2014/main" id="{D9AA9F97-7EEC-AD20-3DD0-E1765D063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832609-68E7-3BDE-715A-091242A9CAD3}"/>
              </a:ext>
            </a:extLst>
          </p:cNvPr>
          <p:cNvSpPr>
            <a:spLocks noGrp="1"/>
          </p:cNvSpPr>
          <p:nvPr>
            <p:ph type="sldNum" sz="quarter" idx="12"/>
          </p:nvPr>
        </p:nvSpPr>
        <p:spPr/>
        <p:txBody>
          <a:bodyPr/>
          <a:lstStyle/>
          <a:p>
            <a:fld id="{775E3AD3-D70D-4195-93BC-FCB192A613CA}" type="slidenum">
              <a:rPr lang="en-US" smtClean="0"/>
              <a:t>‹#›</a:t>
            </a:fld>
            <a:endParaRPr lang="en-US"/>
          </a:p>
        </p:txBody>
      </p:sp>
    </p:spTree>
    <p:extLst>
      <p:ext uri="{BB962C8B-B14F-4D97-AF65-F5344CB8AC3E}">
        <p14:creationId xmlns:p14="http://schemas.microsoft.com/office/powerpoint/2010/main" val="959631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A11FF0-5FCF-ACA1-B7D5-CE2381A097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CA4ADF-BBF0-99C1-C029-660BC970A3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E950C0-4226-645F-E909-AF46510012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7AE02-B111-4481-B2BD-B82CAADB2540}" type="datetimeFigureOut">
              <a:rPr lang="en-US" smtClean="0"/>
              <a:t>12/12/2024</a:t>
            </a:fld>
            <a:endParaRPr lang="en-US"/>
          </a:p>
        </p:txBody>
      </p:sp>
      <p:sp>
        <p:nvSpPr>
          <p:cNvPr id="5" name="Footer Placeholder 4">
            <a:extLst>
              <a:ext uri="{FF2B5EF4-FFF2-40B4-BE49-F238E27FC236}">
                <a16:creationId xmlns:a16="http://schemas.microsoft.com/office/drawing/2014/main" id="{53BCEB50-CCF7-5B12-324B-6A9A9E143E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CEBD38A-5850-9EB7-EFEA-5F0354ACBE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5E3AD3-D70D-4195-93BC-FCB192A613CA}" type="slidenum">
              <a:rPr lang="en-US" smtClean="0"/>
              <a:t>‹#›</a:t>
            </a:fld>
            <a:endParaRPr lang="en-US"/>
          </a:p>
        </p:txBody>
      </p:sp>
    </p:spTree>
    <p:extLst>
      <p:ext uri="{BB962C8B-B14F-4D97-AF65-F5344CB8AC3E}">
        <p14:creationId xmlns:p14="http://schemas.microsoft.com/office/powerpoint/2010/main" val="852399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rstudio.niehs.nih.gov/toxpipe-api-internal/" TargetMode="External"/><Relationship Id="rId2" Type="http://schemas.openxmlformats.org/officeDocument/2006/relationships/hyperlink" Target="https://rstudio.niehs.nih.gov/toxpipe-api/" TargetMode="External"/><Relationship Id="rId1" Type="http://schemas.openxmlformats.org/officeDocument/2006/relationships/slideLayout" Target="../slideLayouts/slideLayout2.xml"/><Relationship Id="rId4" Type="http://schemas.openxmlformats.org/officeDocument/2006/relationships/hyperlink" Target="https://github.com/NIEHS/ToxPip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1A3D-5B73-6F74-2F66-882090E72296}"/>
              </a:ext>
            </a:extLst>
          </p:cNvPr>
          <p:cNvSpPr>
            <a:spLocks noGrp="1"/>
          </p:cNvSpPr>
          <p:nvPr>
            <p:ph type="ctrTitle"/>
          </p:nvPr>
        </p:nvSpPr>
        <p:spPr/>
        <p:txBody>
          <a:bodyPr/>
          <a:lstStyle/>
          <a:p>
            <a:r>
              <a:rPr lang="en-US" dirty="0" err="1"/>
              <a:t>ToxPipe</a:t>
            </a:r>
            <a:r>
              <a:rPr lang="en-US" dirty="0"/>
              <a:t> Agentic API Guide</a:t>
            </a:r>
          </a:p>
        </p:txBody>
      </p:sp>
      <p:sp>
        <p:nvSpPr>
          <p:cNvPr id="3" name="Subtitle 2">
            <a:extLst>
              <a:ext uri="{FF2B5EF4-FFF2-40B4-BE49-F238E27FC236}">
                <a16:creationId xmlns:a16="http://schemas.microsoft.com/office/drawing/2014/main" id="{14DE9A40-01AF-CB66-EC82-42E94D695114}"/>
              </a:ext>
            </a:extLst>
          </p:cNvPr>
          <p:cNvSpPr>
            <a:spLocks noGrp="1"/>
          </p:cNvSpPr>
          <p:nvPr>
            <p:ph type="subTitle" idx="1"/>
          </p:nvPr>
        </p:nvSpPr>
        <p:spPr/>
        <p:txBody>
          <a:bodyPr/>
          <a:lstStyle/>
          <a:p>
            <a:r>
              <a:rPr lang="en-US" dirty="0"/>
              <a:t>Last Updated: Dec. 12, 2024</a:t>
            </a:r>
          </a:p>
        </p:txBody>
      </p:sp>
    </p:spTree>
    <p:extLst>
      <p:ext uri="{BB962C8B-B14F-4D97-AF65-F5344CB8AC3E}">
        <p14:creationId xmlns:p14="http://schemas.microsoft.com/office/powerpoint/2010/main" val="291397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EEAA0BC-4640-6C5E-8954-0193D7B4CE69}"/>
              </a:ext>
            </a:extLst>
          </p:cNvPr>
          <p:cNvSpPr>
            <a:spLocks noGrp="1"/>
          </p:cNvSpPr>
          <p:nvPr>
            <p:ph idx="1"/>
          </p:nvPr>
        </p:nvSpPr>
        <p:spPr/>
        <p:txBody>
          <a:bodyPr/>
          <a:lstStyle/>
          <a:p>
            <a:pPr marL="0" indent="0">
              <a:buNone/>
            </a:pPr>
            <a:r>
              <a:rPr lang="en-US" b="1" dirty="0"/>
              <a:t>Warning: The </a:t>
            </a:r>
            <a:r>
              <a:rPr lang="en-US" b="1" dirty="0" err="1"/>
              <a:t>ToxPipe</a:t>
            </a:r>
            <a:r>
              <a:rPr lang="en-US" b="1" dirty="0"/>
              <a:t> Agentic API is still in active development, and all features may not work as intended. API functionality and organization may change in future updates.</a:t>
            </a:r>
          </a:p>
        </p:txBody>
      </p:sp>
    </p:spTree>
    <p:extLst>
      <p:ext uri="{BB962C8B-B14F-4D97-AF65-F5344CB8AC3E}">
        <p14:creationId xmlns:p14="http://schemas.microsoft.com/office/powerpoint/2010/main" val="295799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43210-765C-B641-F945-D511B9FC8718}"/>
              </a:ext>
            </a:extLst>
          </p:cNvPr>
          <p:cNvSpPr>
            <a:spLocks noGrp="1"/>
          </p:cNvSpPr>
          <p:nvPr>
            <p:ph type="title"/>
          </p:nvPr>
        </p:nvSpPr>
        <p:spPr/>
        <p:txBody>
          <a:bodyPr/>
          <a:lstStyle/>
          <a:p>
            <a:r>
              <a:rPr lang="en-US" dirty="0"/>
              <a:t>Availability</a:t>
            </a:r>
          </a:p>
        </p:txBody>
      </p:sp>
      <p:sp>
        <p:nvSpPr>
          <p:cNvPr id="3" name="Content Placeholder 2">
            <a:extLst>
              <a:ext uri="{FF2B5EF4-FFF2-40B4-BE49-F238E27FC236}">
                <a16:creationId xmlns:a16="http://schemas.microsoft.com/office/drawing/2014/main" id="{8E50602D-D7F2-A051-E3A5-5A551138100D}"/>
              </a:ext>
            </a:extLst>
          </p:cNvPr>
          <p:cNvSpPr>
            <a:spLocks noGrp="1"/>
          </p:cNvSpPr>
          <p:nvPr>
            <p:ph idx="1"/>
          </p:nvPr>
        </p:nvSpPr>
        <p:spPr/>
        <p:txBody>
          <a:bodyPr/>
          <a:lstStyle/>
          <a:p>
            <a:r>
              <a:rPr lang="en-US" dirty="0"/>
              <a:t>Public API Deployment - </a:t>
            </a:r>
            <a:r>
              <a:rPr lang="en-US" dirty="0">
                <a:hlinkClick r:id="rId2"/>
              </a:rPr>
              <a:t>https://rstudio.niehs.nih.gov/toxpipe-api/</a:t>
            </a:r>
            <a:r>
              <a:rPr lang="en-US" dirty="0"/>
              <a:t> </a:t>
            </a:r>
          </a:p>
          <a:p>
            <a:r>
              <a:rPr lang="en-US" dirty="0"/>
              <a:t>Internal API Deployment - </a:t>
            </a:r>
            <a:r>
              <a:rPr lang="en-US" dirty="0">
                <a:hlinkClick r:id="rId3"/>
              </a:rPr>
              <a:t>https://rstudio.niehs.nih.gov/toxpipe-api-internal/</a:t>
            </a:r>
            <a:r>
              <a:rPr lang="en-US" dirty="0"/>
              <a:t> (must authenticate with Posit Connect to use)</a:t>
            </a:r>
          </a:p>
          <a:p>
            <a:r>
              <a:rPr lang="en-US" dirty="0"/>
              <a:t>API GitHub repository - </a:t>
            </a:r>
            <a:r>
              <a:rPr lang="en-US" dirty="0">
                <a:hlinkClick r:id="rId4"/>
              </a:rPr>
              <a:t>https://github.com/NIEHS/ToxPipe</a:t>
            </a:r>
            <a:r>
              <a:rPr lang="en-US" dirty="0"/>
              <a:t> (must be a member of NIEHS GitHub to access)</a:t>
            </a:r>
          </a:p>
        </p:txBody>
      </p:sp>
    </p:spTree>
    <p:extLst>
      <p:ext uri="{BB962C8B-B14F-4D97-AF65-F5344CB8AC3E}">
        <p14:creationId xmlns:p14="http://schemas.microsoft.com/office/powerpoint/2010/main" val="269975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7D3EC-A0B4-C29E-4970-7F71C21DD1F7}"/>
              </a:ext>
            </a:extLst>
          </p:cNvPr>
          <p:cNvSpPr>
            <a:spLocks noGrp="1"/>
          </p:cNvSpPr>
          <p:nvPr>
            <p:ph type="title"/>
          </p:nvPr>
        </p:nvSpPr>
        <p:spPr/>
        <p:txBody>
          <a:bodyPr/>
          <a:lstStyle/>
          <a:p>
            <a:r>
              <a:rPr lang="en-US" dirty="0"/>
              <a:t>Version Differences</a:t>
            </a:r>
          </a:p>
        </p:txBody>
      </p:sp>
      <p:sp>
        <p:nvSpPr>
          <p:cNvPr id="3" name="Content Placeholder 2">
            <a:extLst>
              <a:ext uri="{FF2B5EF4-FFF2-40B4-BE49-F238E27FC236}">
                <a16:creationId xmlns:a16="http://schemas.microsoft.com/office/drawing/2014/main" id="{CD63E826-CC54-3DBD-F367-BFB878D79FAF}"/>
              </a:ext>
            </a:extLst>
          </p:cNvPr>
          <p:cNvSpPr>
            <a:spLocks noGrp="1"/>
          </p:cNvSpPr>
          <p:nvPr>
            <p:ph idx="1"/>
          </p:nvPr>
        </p:nvSpPr>
        <p:spPr/>
        <p:txBody>
          <a:bodyPr>
            <a:normAutofit lnSpcReduction="10000"/>
          </a:bodyPr>
          <a:lstStyle/>
          <a:p>
            <a:r>
              <a:rPr lang="en-US" dirty="0"/>
              <a:t>Internal</a:t>
            </a:r>
          </a:p>
          <a:p>
            <a:pPr lvl="1"/>
            <a:r>
              <a:rPr lang="en-US" dirty="0"/>
              <a:t>Accessed &amp; used the same way as the public version. The below NIEHS-only tools are accessible automatically when using the internal version.</a:t>
            </a:r>
          </a:p>
          <a:p>
            <a:pPr lvl="2"/>
            <a:r>
              <a:rPr lang="en-US" sz="1600" b="1" dirty="0" err="1">
                <a:solidFill>
                  <a:srgbClr val="4EC9B0"/>
                </a:solidFill>
                <a:effectLst/>
                <a:latin typeface="Consolas" panose="020B0609020204030204" pitchFamily="49" charset="0"/>
              </a:rPr>
              <a:t>FunctionalSimilarity</a:t>
            </a:r>
            <a:r>
              <a:rPr lang="en-US" sz="1600" b="0" dirty="0">
                <a:solidFill>
                  <a:srgbClr val="4EC9B0"/>
                </a:solidFill>
                <a:effectLst/>
                <a:latin typeface="Consolas" panose="020B0609020204030204" pitchFamily="49" charset="0"/>
              </a:rPr>
              <a:t> - </a:t>
            </a:r>
            <a:r>
              <a:rPr lang="en-US" sz="1600" b="0" dirty="0">
                <a:solidFill>
                  <a:srgbClr val="CE9178"/>
                </a:solidFill>
                <a:effectLst/>
                <a:latin typeface="Consolas" panose="020B0609020204030204" pitchFamily="49" charset="0"/>
              </a:rPr>
              <a:t>Given a </a:t>
            </a:r>
            <a:r>
              <a:rPr lang="en-US" sz="1600" b="0" dirty="0" err="1">
                <a:solidFill>
                  <a:srgbClr val="CE9178"/>
                </a:solidFill>
                <a:effectLst/>
                <a:latin typeface="Consolas" panose="020B0609020204030204" pitchFamily="49" charset="0"/>
              </a:rPr>
              <a:t>DSSTox</a:t>
            </a:r>
            <a:r>
              <a:rPr lang="en-US" sz="1600" b="0" dirty="0">
                <a:solidFill>
                  <a:srgbClr val="CE9178"/>
                </a:solidFill>
                <a:effectLst/>
                <a:latin typeface="Consolas" panose="020B0609020204030204" pitchFamily="49" charset="0"/>
              </a:rPr>
              <a:t> Substance ID as input, returns a list of functionally similar chemicals and their corresponding similarities to the input chemical from the </a:t>
            </a:r>
            <a:r>
              <a:rPr lang="en-US" sz="1600" b="0" dirty="0" err="1">
                <a:solidFill>
                  <a:srgbClr val="CE9178"/>
                </a:solidFill>
                <a:effectLst/>
                <a:latin typeface="Consolas" panose="020B0609020204030204" pitchFamily="49" charset="0"/>
              </a:rPr>
              <a:t>ChemBioTox</a:t>
            </a:r>
            <a:r>
              <a:rPr lang="en-US" sz="1600" b="0" dirty="0">
                <a:solidFill>
                  <a:srgbClr val="CE9178"/>
                </a:solidFill>
                <a:effectLst/>
                <a:latin typeface="Consolas" panose="020B0609020204030204" pitchFamily="49" charset="0"/>
              </a:rPr>
              <a:t> database. Similarities are calculated by cosine distance with distances closer to zero being more similar. Function is based off of predictive models and may not accurately represent the behavior of the chemicals in question.</a:t>
            </a:r>
            <a:endParaRPr lang="en-US" sz="1600" b="0" dirty="0">
              <a:solidFill>
                <a:srgbClr val="CCCCCC"/>
              </a:solidFill>
              <a:effectLst/>
              <a:latin typeface="Consolas" panose="020B0609020204030204" pitchFamily="49" charset="0"/>
            </a:endParaRPr>
          </a:p>
          <a:p>
            <a:pPr lvl="2"/>
            <a:r>
              <a:rPr lang="en-US" sz="1600" b="1" dirty="0" err="1">
                <a:solidFill>
                  <a:srgbClr val="4EC9B0"/>
                </a:solidFill>
                <a:effectLst/>
                <a:latin typeface="Consolas" panose="020B0609020204030204" pitchFamily="49" charset="0"/>
              </a:rPr>
              <a:t>QueryCBTADMET</a:t>
            </a:r>
            <a:r>
              <a:rPr lang="en-US" sz="1600" b="0" dirty="0">
                <a:solidFill>
                  <a:srgbClr val="4EC9B0"/>
                </a:solidFill>
                <a:effectLst/>
                <a:latin typeface="Consolas" panose="020B0609020204030204" pitchFamily="49" charset="0"/>
              </a:rPr>
              <a:t> - </a:t>
            </a:r>
            <a:r>
              <a:rPr lang="en-US" sz="1600" b="0" dirty="0">
                <a:solidFill>
                  <a:srgbClr val="CE9178"/>
                </a:solidFill>
                <a:effectLst/>
                <a:latin typeface="Consolas" panose="020B0609020204030204" pitchFamily="49" charset="0"/>
              </a:rPr>
              <a:t>Given a </a:t>
            </a:r>
            <a:r>
              <a:rPr lang="en-US" sz="1600" b="0" dirty="0" err="1">
                <a:solidFill>
                  <a:srgbClr val="CE9178"/>
                </a:solidFill>
                <a:effectLst/>
                <a:latin typeface="Consolas" panose="020B0609020204030204" pitchFamily="49" charset="0"/>
              </a:rPr>
              <a:t>DSSTox</a:t>
            </a:r>
            <a:r>
              <a:rPr lang="en-US" sz="1600" b="0" dirty="0">
                <a:solidFill>
                  <a:srgbClr val="CE9178"/>
                </a:solidFill>
                <a:effectLst/>
                <a:latin typeface="Consolas" panose="020B0609020204030204" pitchFamily="49" charset="0"/>
              </a:rPr>
              <a:t> substance ID or DTXSID as input, annotates a chemical with predicted ADMET QSAR models from the </a:t>
            </a:r>
            <a:r>
              <a:rPr lang="en-US" sz="1600" b="0" dirty="0" err="1">
                <a:solidFill>
                  <a:srgbClr val="CE9178"/>
                </a:solidFill>
                <a:effectLst/>
                <a:latin typeface="Consolas" panose="020B0609020204030204" pitchFamily="49" charset="0"/>
              </a:rPr>
              <a:t>ChemBioTox</a:t>
            </a:r>
            <a:r>
              <a:rPr lang="en-US" sz="1600" b="0" dirty="0">
                <a:solidFill>
                  <a:srgbClr val="CE9178"/>
                </a:solidFill>
                <a:effectLst/>
                <a:latin typeface="Consolas" panose="020B0609020204030204" pitchFamily="49" charset="0"/>
              </a:rPr>
              <a:t> database. This can be helpful for understanding the absorption, distribution, metabolism, excretion, pathways, transportation, and toxicity of a chemical.</a:t>
            </a:r>
          </a:p>
          <a:p>
            <a:pPr lvl="2"/>
            <a:r>
              <a:rPr lang="en-US" sz="1600" b="1" dirty="0" err="1">
                <a:solidFill>
                  <a:srgbClr val="4EC9B0"/>
                </a:solidFill>
                <a:effectLst/>
                <a:latin typeface="Consolas" panose="020B0609020204030204" pitchFamily="49" charset="0"/>
              </a:rPr>
              <a:t>QueryCBTLeadscope</a:t>
            </a:r>
            <a:r>
              <a:rPr lang="en-US" sz="1600" b="0" dirty="0">
                <a:solidFill>
                  <a:srgbClr val="4EC9B0"/>
                </a:solidFill>
                <a:effectLst/>
                <a:latin typeface="Consolas" panose="020B0609020204030204" pitchFamily="49" charset="0"/>
              </a:rPr>
              <a:t> - </a:t>
            </a:r>
            <a:r>
              <a:rPr lang="en-US" sz="1600" b="0" dirty="0">
                <a:solidFill>
                  <a:srgbClr val="CE9178"/>
                </a:solidFill>
                <a:effectLst/>
                <a:latin typeface="Consolas" panose="020B0609020204030204" pitchFamily="49" charset="0"/>
              </a:rPr>
              <a:t>Given a </a:t>
            </a:r>
            <a:r>
              <a:rPr lang="en-US" sz="1600" b="0" dirty="0" err="1">
                <a:solidFill>
                  <a:srgbClr val="CE9178"/>
                </a:solidFill>
                <a:effectLst/>
                <a:latin typeface="Consolas" panose="020B0609020204030204" pitchFamily="49" charset="0"/>
              </a:rPr>
              <a:t>DSSTox</a:t>
            </a:r>
            <a:r>
              <a:rPr lang="en-US" sz="1600" b="0" dirty="0">
                <a:solidFill>
                  <a:srgbClr val="CE9178"/>
                </a:solidFill>
                <a:effectLst/>
                <a:latin typeface="Consolas" panose="020B0609020204030204" pitchFamily="49" charset="0"/>
              </a:rPr>
              <a:t> substance ID or DTXSID as input, annotates a chemical with predicted </a:t>
            </a:r>
            <a:r>
              <a:rPr lang="en-US" sz="1600" b="0" dirty="0" err="1">
                <a:solidFill>
                  <a:srgbClr val="CE9178"/>
                </a:solidFill>
                <a:effectLst/>
                <a:latin typeface="Consolas" panose="020B0609020204030204" pitchFamily="49" charset="0"/>
              </a:rPr>
              <a:t>Leadscope</a:t>
            </a:r>
            <a:r>
              <a:rPr lang="en-US" sz="1600" b="0" dirty="0">
                <a:solidFill>
                  <a:srgbClr val="CE9178"/>
                </a:solidFill>
                <a:effectLst/>
                <a:latin typeface="Consolas" panose="020B0609020204030204" pitchFamily="49" charset="0"/>
              </a:rPr>
              <a:t> QSAR models from the </a:t>
            </a:r>
            <a:r>
              <a:rPr lang="en-US" sz="1600" b="0" dirty="0" err="1">
                <a:solidFill>
                  <a:srgbClr val="CE9178"/>
                </a:solidFill>
                <a:effectLst/>
                <a:latin typeface="Consolas" panose="020B0609020204030204" pitchFamily="49" charset="0"/>
              </a:rPr>
              <a:t>ChemBioTox</a:t>
            </a:r>
            <a:r>
              <a:rPr lang="en-US" sz="1600" b="0" dirty="0">
                <a:solidFill>
                  <a:srgbClr val="CE9178"/>
                </a:solidFill>
                <a:effectLst/>
                <a:latin typeface="Consolas" panose="020B0609020204030204" pitchFamily="49" charset="0"/>
              </a:rPr>
              <a:t> database.</a:t>
            </a:r>
          </a:p>
          <a:p>
            <a:pPr lvl="2"/>
            <a:r>
              <a:rPr lang="en-US" sz="1600" b="1" dirty="0" err="1">
                <a:solidFill>
                  <a:srgbClr val="4EC9B0"/>
                </a:solidFill>
                <a:effectLst/>
                <a:latin typeface="Consolas" panose="020B0609020204030204" pitchFamily="49" charset="0"/>
              </a:rPr>
              <a:t>QueryCBTMetabolites</a:t>
            </a:r>
            <a:r>
              <a:rPr lang="en-US" sz="1600" b="0" dirty="0">
                <a:solidFill>
                  <a:srgbClr val="4EC9B0"/>
                </a:solidFill>
                <a:effectLst/>
                <a:latin typeface="Consolas" panose="020B0609020204030204" pitchFamily="49" charset="0"/>
              </a:rPr>
              <a:t> - </a:t>
            </a:r>
            <a:r>
              <a:rPr lang="en-US" sz="1600" b="0" dirty="0">
                <a:solidFill>
                  <a:srgbClr val="CE9178"/>
                </a:solidFill>
                <a:effectLst/>
                <a:latin typeface="Consolas" panose="020B0609020204030204" pitchFamily="49" charset="0"/>
              </a:rPr>
              <a:t>Given a </a:t>
            </a:r>
            <a:r>
              <a:rPr lang="en-US" sz="1600" b="0" dirty="0" err="1">
                <a:solidFill>
                  <a:srgbClr val="CE9178"/>
                </a:solidFill>
                <a:effectLst/>
                <a:latin typeface="Consolas" panose="020B0609020204030204" pitchFamily="49" charset="0"/>
              </a:rPr>
              <a:t>DSSTox</a:t>
            </a:r>
            <a:r>
              <a:rPr lang="en-US" sz="1600" b="0" dirty="0">
                <a:solidFill>
                  <a:srgbClr val="CE9178"/>
                </a:solidFill>
                <a:effectLst/>
                <a:latin typeface="Consolas" panose="020B0609020204030204" pitchFamily="49" charset="0"/>
              </a:rPr>
              <a:t> substance ID or DTXSID as input, generate metabolites of the chemical from ADMET predictor with corresponding enzymes used in the metabolism.</a:t>
            </a:r>
            <a:endParaRPr lang="en-US" sz="1600" b="0" dirty="0">
              <a:solidFill>
                <a:srgbClr val="CCCCCC"/>
              </a:solidFill>
              <a:effectLst/>
              <a:latin typeface="Consolas" panose="020B0609020204030204" pitchFamily="49" charset="0"/>
            </a:endParaRPr>
          </a:p>
          <a:p>
            <a:pPr lvl="1"/>
            <a:endParaRPr lang="en-US" sz="1200" b="0" dirty="0">
              <a:solidFill>
                <a:srgbClr val="CCCCCC"/>
              </a:solidFill>
              <a:effectLst/>
              <a:latin typeface="Consolas" panose="020B0609020204030204" pitchFamily="49" charset="0"/>
            </a:endParaRPr>
          </a:p>
          <a:p>
            <a:pPr lvl="1"/>
            <a:endParaRPr lang="en-US" sz="1600" b="0" dirty="0">
              <a:solidFill>
                <a:srgbClr val="CCCCCC"/>
              </a:solidFill>
              <a:effectLst/>
              <a:latin typeface="Consolas" panose="020B0609020204030204" pitchFamily="49" charset="0"/>
            </a:endParaRPr>
          </a:p>
          <a:p>
            <a:pPr lvl="1"/>
            <a:endParaRPr lang="en-US" sz="1200" b="0" dirty="0">
              <a:solidFill>
                <a:srgbClr val="CCCCCC"/>
              </a:solidFill>
              <a:effectLst/>
              <a:latin typeface="Consolas" panose="020B0609020204030204" pitchFamily="49" charset="0"/>
            </a:endParaRPr>
          </a:p>
          <a:p>
            <a:pPr lvl="1"/>
            <a:endParaRPr lang="en-US" sz="1600" b="0" dirty="0">
              <a:solidFill>
                <a:srgbClr val="CCCCCC"/>
              </a:solidFill>
              <a:effectLst/>
              <a:latin typeface="Consolas" panose="020B0609020204030204" pitchFamily="49" charset="0"/>
            </a:endParaRPr>
          </a:p>
          <a:p>
            <a:pPr lvl="1"/>
            <a:endParaRPr lang="en-US" b="0" dirty="0">
              <a:solidFill>
                <a:srgbClr val="CCCCCC"/>
              </a:solidFill>
              <a:effectLst/>
              <a:latin typeface="Consolas" panose="020B0609020204030204" pitchFamily="49" charset="0"/>
            </a:endParaRPr>
          </a:p>
          <a:p>
            <a:pPr lvl="1"/>
            <a:endParaRPr lang="en-US" b="0" dirty="0">
              <a:solidFill>
                <a:srgbClr val="CCCCCC"/>
              </a:solidFill>
              <a:effectLst/>
              <a:latin typeface="Consolas" panose="020B0609020204030204" pitchFamily="49" charset="0"/>
            </a:endParaRPr>
          </a:p>
          <a:p>
            <a:pPr lvl="1"/>
            <a:endParaRPr lang="en-US" dirty="0"/>
          </a:p>
          <a:p>
            <a:pPr lvl="1"/>
            <a:endParaRPr lang="en-US" dirty="0"/>
          </a:p>
        </p:txBody>
      </p:sp>
    </p:spTree>
    <p:extLst>
      <p:ext uri="{BB962C8B-B14F-4D97-AF65-F5344CB8AC3E}">
        <p14:creationId xmlns:p14="http://schemas.microsoft.com/office/powerpoint/2010/main" val="2871285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1ED52-8D05-2D8B-72F5-5285F5298605}"/>
              </a:ext>
            </a:extLst>
          </p:cNvPr>
          <p:cNvSpPr>
            <a:spLocks noGrp="1"/>
          </p:cNvSpPr>
          <p:nvPr>
            <p:ph type="title"/>
          </p:nvPr>
        </p:nvSpPr>
        <p:spPr/>
        <p:txBody>
          <a:bodyPr/>
          <a:lstStyle/>
          <a:p>
            <a:r>
              <a:rPr lang="en-US" dirty="0"/>
              <a:t>Usage</a:t>
            </a:r>
          </a:p>
        </p:txBody>
      </p:sp>
      <p:sp>
        <p:nvSpPr>
          <p:cNvPr id="3" name="Content Placeholder 2">
            <a:extLst>
              <a:ext uri="{FF2B5EF4-FFF2-40B4-BE49-F238E27FC236}">
                <a16:creationId xmlns:a16="http://schemas.microsoft.com/office/drawing/2014/main" id="{E27D8111-5A75-AFA3-4715-FEB1B11E80B8}"/>
              </a:ext>
            </a:extLst>
          </p:cNvPr>
          <p:cNvSpPr>
            <a:spLocks noGrp="1"/>
          </p:cNvSpPr>
          <p:nvPr>
            <p:ph idx="1"/>
          </p:nvPr>
        </p:nvSpPr>
        <p:spPr>
          <a:xfrm>
            <a:off x="838200" y="1377616"/>
            <a:ext cx="10515600" cy="5251784"/>
          </a:xfrm>
        </p:spPr>
        <p:txBody>
          <a:bodyPr>
            <a:normAutofit fontScale="92500" lnSpcReduction="20000"/>
          </a:bodyPr>
          <a:lstStyle/>
          <a:p>
            <a:pPr marL="514350" indent="-514350">
              <a:buFont typeface="+mj-lt"/>
              <a:buAutoNum type="arabicPeriod"/>
              <a:tabLst>
                <a:tab pos="5257800" algn="l"/>
              </a:tabLst>
            </a:pPr>
            <a:r>
              <a:rPr lang="en-US" sz="1800" dirty="0"/>
              <a:t>Create Agent Handler – To query models, you must first create an </a:t>
            </a:r>
            <a:r>
              <a:rPr lang="en-US" sz="1800" b="1" dirty="0"/>
              <a:t>agent handler</a:t>
            </a:r>
            <a:r>
              <a:rPr lang="en-US" sz="1800" dirty="0"/>
              <a:t>.</a:t>
            </a:r>
          </a:p>
          <a:p>
            <a:pPr lvl="1">
              <a:tabLst>
                <a:tab pos="5257800" algn="l"/>
              </a:tabLst>
            </a:pPr>
            <a:r>
              <a:rPr lang="en-US" sz="1800" dirty="0"/>
              <a:t>Use the /agent/create/  endpoint</a:t>
            </a:r>
          </a:p>
          <a:p>
            <a:pPr lvl="1">
              <a:tabLst>
                <a:tab pos="5257800" algn="l"/>
              </a:tabLst>
            </a:pPr>
            <a:r>
              <a:rPr lang="en-US" sz="1800" dirty="0"/>
              <a:t>Params:</a:t>
            </a:r>
          </a:p>
          <a:p>
            <a:pPr lvl="2">
              <a:tabLst>
                <a:tab pos="5257800" algn="l"/>
              </a:tabLst>
            </a:pPr>
            <a:r>
              <a:rPr lang="en-US" sz="1400" b="1" dirty="0">
                <a:latin typeface="Consolas" panose="020B0609020204030204" pitchFamily="49" charset="0"/>
                <a:cs typeface="Courier New" panose="02070309020205020404" pitchFamily="49" charset="0"/>
              </a:rPr>
              <a:t>model</a:t>
            </a:r>
            <a:r>
              <a:rPr lang="en-US" sz="1400" dirty="0"/>
              <a:t> – Name of AI model to use with agent. A list of supported models is on </a:t>
            </a:r>
            <a:r>
              <a:rPr lang="en-US" sz="1400" b="1" dirty="0">
                <a:hlinkClick r:id="rId2" action="ppaction://hlinksldjump"/>
              </a:rPr>
              <a:t>Slide 6</a:t>
            </a:r>
            <a:r>
              <a:rPr lang="en-US" sz="1400" dirty="0"/>
              <a:t>. </a:t>
            </a:r>
            <a:r>
              <a:rPr lang="en-US" sz="1400" b="1" dirty="0">
                <a:solidFill>
                  <a:srgbClr val="FF0000"/>
                </a:solidFill>
              </a:rPr>
              <a:t>Important</a:t>
            </a:r>
            <a:r>
              <a:rPr lang="en-US" sz="1400" dirty="0">
                <a:solidFill>
                  <a:srgbClr val="FF0000"/>
                </a:solidFill>
              </a:rPr>
              <a:t>: model name </a:t>
            </a:r>
            <a:r>
              <a:rPr lang="en-US" sz="1400" b="1" dirty="0">
                <a:solidFill>
                  <a:srgbClr val="FF0000"/>
                </a:solidFill>
              </a:rPr>
              <a:t>MUST</a:t>
            </a:r>
            <a:r>
              <a:rPr lang="en-US" sz="1400" dirty="0">
                <a:solidFill>
                  <a:srgbClr val="FF0000"/>
                </a:solidFill>
              </a:rPr>
              <a:t> match exactly a name from this list.</a:t>
            </a:r>
          </a:p>
          <a:p>
            <a:pPr lvl="2">
              <a:tabLst>
                <a:tab pos="5257800" algn="l"/>
              </a:tabLst>
            </a:pPr>
            <a:r>
              <a:rPr lang="en-US" sz="1400" b="1" dirty="0">
                <a:latin typeface="Consolas" panose="020B0609020204030204" pitchFamily="49" charset="0"/>
              </a:rPr>
              <a:t>temp</a:t>
            </a:r>
            <a:r>
              <a:rPr lang="en-US" sz="1400" dirty="0"/>
              <a:t> – Model temperature. Values closer to 1 introduce more variation in responses across model calls (i.e., more stochastic behavior).</a:t>
            </a:r>
          </a:p>
          <a:p>
            <a:pPr lvl="2">
              <a:tabLst>
                <a:tab pos="5257800" algn="l"/>
              </a:tabLst>
            </a:pPr>
            <a:r>
              <a:rPr lang="en-US" sz="1400" b="1" dirty="0" err="1">
                <a:latin typeface="Consolas" panose="020B0609020204030204" pitchFamily="49" charset="0"/>
              </a:rPr>
              <a:t>max_iterations</a:t>
            </a:r>
            <a:r>
              <a:rPr lang="en-US" sz="1400" dirty="0"/>
              <a:t> – The maximum number of agentic steps (“thoughts”) the agent may take. If an agent exceeds this number of steps, it will return with an error.</a:t>
            </a:r>
          </a:p>
          <a:p>
            <a:pPr lvl="2">
              <a:tabLst>
                <a:tab pos="5257800" algn="l"/>
              </a:tabLst>
            </a:pPr>
            <a:r>
              <a:rPr lang="en-US" sz="1400" b="1" dirty="0" err="1">
                <a:latin typeface="Consolas" panose="020B0609020204030204" pitchFamily="49" charset="0"/>
              </a:rPr>
              <a:t>step_timeout</a:t>
            </a:r>
            <a:r>
              <a:rPr lang="en-US" sz="1400" dirty="0"/>
              <a:t> – The maximum time in seconds that an agent may spend on a single step. If an agent exceeds this time, it will return with an error.</a:t>
            </a:r>
          </a:p>
          <a:p>
            <a:pPr lvl="2">
              <a:tabLst>
                <a:tab pos="5257800" algn="l"/>
              </a:tabLst>
            </a:pPr>
            <a:r>
              <a:rPr lang="en-US" sz="1400" b="1" dirty="0" err="1">
                <a:latin typeface="Consolas" panose="020B0609020204030204" pitchFamily="49" charset="0"/>
              </a:rPr>
              <a:t>n_threads</a:t>
            </a:r>
            <a:r>
              <a:rPr lang="en-US" sz="1400" dirty="0"/>
              <a:t> – The number of parallel agents to run for each request to the model. Setting this &gt; 1 will cause the agent handler to spawn </a:t>
            </a:r>
            <a:r>
              <a:rPr lang="en-US" sz="1400" b="1" dirty="0" err="1">
                <a:latin typeface="Consolas" panose="020B0609020204030204" pitchFamily="49" charset="0"/>
              </a:rPr>
              <a:t>n_threads</a:t>
            </a:r>
            <a:r>
              <a:rPr lang="en-US" sz="1400" b="1" dirty="0">
                <a:latin typeface="Consolas" panose="020B0609020204030204" pitchFamily="49" charset="0"/>
              </a:rPr>
              <a:t> </a:t>
            </a:r>
            <a:r>
              <a:rPr lang="en-US" sz="1400" dirty="0"/>
              <a:t>agents that will process the user’s query in parallel. This is best used with </a:t>
            </a:r>
            <a:r>
              <a:rPr lang="en-US" sz="1400" b="1" dirty="0">
                <a:latin typeface="Consolas" panose="020B0609020204030204" pitchFamily="49" charset="0"/>
              </a:rPr>
              <a:t>temp</a:t>
            </a:r>
            <a:r>
              <a:rPr lang="en-US" sz="1400" dirty="0"/>
              <a:t> &gt; 0 to force each agent to formulate a different answer. Each agent’s answer will be included in the final output (the </a:t>
            </a:r>
            <a:r>
              <a:rPr lang="en-US" sz="1400" b="1" dirty="0">
                <a:latin typeface="Consolas" panose="020B0609020204030204" pitchFamily="49" charset="0"/>
              </a:rPr>
              <a:t>summarize</a:t>
            </a:r>
            <a:r>
              <a:rPr lang="en-US" sz="1400" dirty="0"/>
              <a:t> parameter is forced to </a:t>
            </a:r>
            <a:r>
              <a:rPr lang="en-US" sz="1400" i="1" dirty="0">
                <a:solidFill>
                  <a:schemeClr val="accent1"/>
                </a:solidFill>
              </a:rPr>
              <a:t>True</a:t>
            </a:r>
            <a:r>
              <a:rPr lang="en-US" sz="1400" dirty="0"/>
              <a:t>). Setting </a:t>
            </a:r>
            <a:r>
              <a:rPr lang="en-US" sz="1400" b="1" dirty="0" err="1">
                <a:latin typeface="Consolas" panose="020B0609020204030204" pitchFamily="49" charset="0"/>
              </a:rPr>
              <a:t>n_threads</a:t>
            </a:r>
            <a:r>
              <a:rPr lang="en-US" sz="1400" b="1" dirty="0">
                <a:latin typeface="Consolas" panose="020B0609020204030204" pitchFamily="49" charset="0"/>
              </a:rPr>
              <a:t> </a:t>
            </a:r>
            <a:r>
              <a:rPr lang="en-US" sz="1400" dirty="0"/>
              <a:t>= 0 disables this feature and just runs a single agent per query.</a:t>
            </a:r>
          </a:p>
          <a:p>
            <a:pPr lvl="2">
              <a:tabLst>
                <a:tab pos="5257800" algn="l"/>
              </a:tabLst>
            </a:pPr>
            <a:r>
              <a:rPr lang="en-US" sz="1400" b="1" dirty="0">
                <a:latin typeface="Consolas" panose="020B0609020204030204" pitchFamily="49" charset="0"/>
              </a:rPr>
              <a:t>summarize</a:t>
            </a:r>
            <a:r>
              <a:rPr lang="en-US" sz="1400" dirty="0"/>
              <a:t> – This forces the agent to complete an additional query to summarize the results of its thought chain before returning the final answer. Setting this to </a:t>
            </a:r>
            <a:r>
              <a:rPr lang="en-US" sz="1400" i="1" dirty="0">
                <a:solidFill>
                  <a:schemeClr val="accent1"/>
                </a:solidFill>
              </a:rPr>
              <a:t>True</a:t>
            </a:r>
            <a:r>
              <a:rPr lang="en-US" sz="1400" dirty="0"/>
              <a:t> may improve the readability of the agent’s responses. This is automatically set to True when </a:t>
            </a:r>
            <a:r>
              <a:rPr lang="en-US" sz="1400" b="1" dirty="0" err="1">
                <a:latin typeface="Consolas" panose="020B0609020204030204" pitchFamily="49" charset="0"/>
              </a:rPr>
              <a:t>n_threads</a:t>
            </a:r>
            <a:r>
              <a:rPr lang="en-US" sz="1400" b="1" dirty="0">
                <a:latin typeface="Consolas" panose="020B0609020204030204" pitchFamily="49" charset="0"/>
              </a:rPr>
              <a:t> </a:t>
            </a:r>
            <a:r>
              <a:rPr lang="en-US" sz="1400" dirty="0"/>
              <a:t>&gt; 1.</a:t>
            </a:r>
          </a:p>
          <a:p>
            <a:pPr lvl="1">
              <a:tabLst>
                <a:tab pos="5257800" algn="l"/>
              </a:tabLst>
            </a:pPr>
            <a:r>
              <a:rPr lang="en-US" sz="1600" dirty="0"/>
              <a:t>Upon successfully creating an agent handler, you will receive a JSON response containing the handler’s unique ID (</a:t>
            </a:r>
            <a:r>
              <a:rPr lang="en-US" sz="1600" b="1" dirty="0" err="1">
                <a:latin typeface="Consolas" panose="020B0609020204030204" pitchFamily="49" charset="0"/>
              </a:rPr>
              <a:t>agentid</a:t>
            </a:r>
            <a:r>
              <a:rPr lang="en-US" sz="1600" dirty="0"/>
              <a:t>), as well as the agent options and date/time the handler was created. </a:t>
            </a:r>
            <a:r>
              <a:rPr lang="en-US" sz="1600" b="1" dirty="0">
                <a:solidFill>
                  <a:srgbClr val="FF0000"/>
                </a:solidFill>
              </a:rPr>
              <a:t>SAVE THIS INFO – it will only be shown once and cannot be recovered after navigating away!</a:t>
            </a:r>
            <a:r>
              <a:rPr lang="en-US" sz="1600" dirty="0"/>
              <a:t> (This behavior may change in a future update).</a:t>
            </a:r>
          </a:p>
          <a:p>
            <a:pPr marL="514350" indent="-514350">
              <a:buFont typeface="+mj-lt"/>
              <a:buAutoNum type="arabicPeriod"/>
              <a:tabLst>
                <a:tab pos="5257800" algn="l"/>
              </a:tabLst>
            </a:pPr>
            <a:r>
              <a:rPr lang="en-US" sz="1800" dirty="0"/>
              <a:t>Use agent handler to query a model</a:t>
            </a:r>
          </a:p>
          <a:p>
            <a:pPr lvl="1">
              <a:tabLst>
                <a:tab pos="5257800" algn="l"/>
              </a:tabLst>
            </a:pPr>
            <a:r>
              <a:rPr lang="en-US" sz="1800" dirty="0"/>
              <a:t>Use the /agent/query/ endpoint</a:t>
            </a:r>
          </a:p>
          <a:p>
            <a:pPr lvl="1">
              <a:tabLst>
                <a:tab pos="5257800" algn="l"/>
              </a:tabLst>
            </a:pPr>
            <a:r>
              <a:rPr lang="en-US" sz="1800" dirty="0"/>
              <a:t>Params:</a:t>
            </a:r>
          </a:p>
          <a:p>
            <a:pPr lvl="2">
              <a:tabLst>
                <a:tab pos="5257800" algn="l"/>
              </a:tabLst>
            </a:pPr>
            <a:r>
              <a:rPr lang="en-US" sz="1400" b="1" dirty="0" err="1">
                <a:latin typeface="Consolas" panose="020B0609020204030204" pitchFamily="49" charset="0"/>
              </a:rPr>
              <a:t>agentid</a:t>
            </a:r>
            <a:r>
              <a:rPr lang="en-US" sz="1400" dirty="0"/>
              <a:t> – Unique ID of an agent handler created in </a:t>
            </a:r>
            <a:r>
              <a:rPr lang="en-US" sz="1400" b="1" dirty="0"/>
              <a:t>Step 1</a:t>
            </a:r>
            <a:r>
              <a:rPr lang="en-US" sz="1400" dirty="0"/>
              <a:t>.</a:t>
            </a:r>
          </a:p>
          <a:p>
            <a:pPr lvl="2">
              <a:tabLst>
                <a:tab pos="5257800" algn="l"/>
              </a:tabLst>
            </a:pPr>
            <a:r>
              <a:rPr lang="en-US" sz="1400" b="1" dirty="0">
                <a:latin typeface="Consolas" panose="020B0609020204030204" pitchFamily="49" charset="0"/>
              </a:rPr>
              <a:t>q</a:t>
            </a:r>
            <a:r>
              <a:rPr lang="en-US" sz="1400" dirty="0"/>
              <a:t> – Input query for the model.</a:t>
            </a:r>
          </a:p>
          <a:p>
            <a:pPr lvl="2">
              <a:tabLst>
                <a:tab pos="5257800" algn="l"/>
              </a:tabLst>
            </a:pPr>
            <a:endParaRPr lang="en-US" sz="1400" dirty="0"/>
          </a:p>
          <a:p>
            <a:pPr lvl="2">
              <a:tabLst>
                <a:tab pos="5257800" algn="l"/>
              </a:tabLst>
            </a:pPr>
            <a:endParaRPr lang="en-US" sz="1100" dirty="0"/>
          </a:p>
          <a:p>
            <a:pPr lvl="2">
              <a:buFont typeface="+mj-lt"/>
              <a:buAutoNum type="arabicPeriod"/>
              <a:tabLst>
                <a:tab pos="5257800" algn="l"/>
              </a:tabLst>
            </a:pPr>
            <a:endParaRPr lang="en-US" sz="1100" dirty="0"/>
          </a:p>
        </p:txBody>
      </p:sp>
      <p:pic>
        <p:nvPicPr>
          <p:cNvPr id="5" name="Picture 4">
            <a:extLst>
              <a:ext uri="{FF2B5EF4-FFF2-40B4-BE49-F238E27FC236}">
                <a16:creationId xmlns:a16="http://schemas.microsoft.com/office/drawing/2014/main" id="{EA4BE6B5-341A-6FAB-909A-959F3421257A}"/>
              </a:ext>
            </a:extLst>
          </p:cNvPr>
          <p:cNvPicPr>
            <a:picLocks noChangeAspect="1"/>
          </p:cNvPicPr>
          <p:nvPr/>
        </p:nvPicPr>
        <p:blipFill>
          <a:blip r:embed="rId3"/>
          <a:stretch>
            <a:fillRect/>
          </a:stretch>
        </p:blipFill>
        <p:spPr>
          <a:xfrm>
            <a:off x="4544195" y="1615014"/>
            <a:ext cx="1224133" cy="314369"/>
          </a:xfrm>
          <a:prstGeom prst="rect">
            <a:avLst/>
          </a:prstGeom>
        </p:spPr>
      </p:pic>
      <p:pic>
        <p:nvPicPr>
          <p:cNvPr id="7" name="Picture 6">
            <a:extLst>
              <a:ext uri="{FF2B5EF4-FFF2-40B4-BE49-F238E27FC236}">
                <a16:creationId xmlns:a16="http://schemas.microsoft.com/office/drawing/2014/main" id="{64F8BCF4-D16E-73EF-1AD9-EC319A82628A}"/>
              </a:ext>
            </a:extLst>
          </p:cNvPr>
          <p:cNvPicPr>
            <a:picLocks noChangeAspect="1"/>
          </p:cNvPicPr>
          <p:nvPr/>
        </p:nvPicPr>
        <p:blipFill>
          <a:blip r:embed="rId4"/>
          <a:stretch>
            <a:fillRect/>
          </a:stretch>
        </p:blipFill>
        <p:spPr>
          <a:xfrm>
            <a:off x="4496067" y="5309172"/>
            <a:ext cx="1151580" cy="234139"/>
          </a:xfrm>
          <a:prstGeom prst="rect">
            <a:avLst/>
          </a:prstGeom>
        </p:spPr>
      </p:pic>
    </p:spTree>
    <p:extLst>
      <p:ext uri="{BB962C8B-B14F-4D97-AF65-F5344CB8AC3E}">
        <p14:creationId xmlns:p14="http://schemas.microsoft.com/office/powerpoint/2010/main" val="1790018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9EE37-C696-7F81-A7AF-8CAF2CA57462}"/>
              </a:ext>
            </a:extLst>
          </p:cNvPr>
          <p:cNvSpPr>
            <a:spLocks noGrp="1"/>
          </p:cNvSpPr>
          <p:nvPr>
            <p:ph type="title"/>
          </p:nvPr>
        </p:nvSpPr>
        <p:spPr/>
        <p:txBody>
          <a:bodyPr/>
          <a:lstStyle/>
          <a:p>
            <a:r>
              <a:rPr lang="en-US" dirty="0"/>
              <a:t>Supported Models</a:t>
            </a:r>
          </a:p>
        </p:txBody>
      </p:sp>
      <p:sp>
        <p:nvSpPr>
          <p:cNvPr id="3" name="Content Placeholder 2">
            <a:extLst>
              <a:ext uri="{FF2B5EF4-FFF2-40B4-BE49-F238E27FC236}">
                <a16:creationId xmlns:a16="http://schemas.microsoft.com/office/drawing/2014/main" id="{E08EA529-8171-9255-0E3B-22533F4ED9F9}"/>
              </a:ext>
            </a:extLst>
          </p:cNvPr>
          <p:cNvSpPr>
            <a:spLocks noGrp="1"/>
          </p:cNvSpPr>
          <p:nvPr>
            <p:ph idx="1"/>
          </p:nvPr>
        </p:nvSpPr>
        <p:spPr>
          <a:xfrm>
            <a:off x="838200" y="1473868"/>
            <a:ext cx="10515600" cy="5119437"/>
          </a:xfrm>
        </p:spPr>
        <p:txBody>
          <a:bodyPr>
            <a:noAutofit/>
          </a:bodyPr>
          <a:lstStyle/>
          <a:p>
            <a:pPr marL="0" indent="0">
              <a:lnSpc>
                <a:spcPct val="100000"/>
              </a:lnSpc>
              <a:spcBef>
                <a:spcPts val="0"/>
              </a:spcBef>
              <a:buNone/>
            </a:pPr>
            <a:r>
              <a:rPr lang="en-US" sz="1200" b="1" dirty="0">
                <a:solidFill>
                  <a:srgbClr val="FF0000"/>
                </a:solidFill>
                <a:effectLst/>
              </a:rPr>
              <a:t>Red</a:t>
            </a:r>
            <a:r>
              <a:rPr lang="en-US" sz="1200" b="1" dirty="0">
                <a:effectLst/>
              </a:rPr>
              <a:t> </a:t>
            </a:r>
            <a:r>
              <a:rPr lang="en-US" sz="1200" dirty="0">
                <a:effectLst/>
              </a:rPr>
              <a:t>= recommended, tested with tools</a:t>
            </a:r>
          </a:p>
          <a:p>
            <a:pPr>
              <a:lnSpc>
                <a:spcPct val="100000"/>
              </a:lnSpc>
              <a:spcBef>
                <a:spcPts val="0"/>
              </a:spcBef>
            </a:pPr>
            <a:r>
              <a:rPr lang="en-US" sz="1200" b="1" dirty="0">
                <a:effectLst/>
              </a:rPr>
              <a:t>Anthropic</a:t>
            </a:r>
            <a:endParaRPr lang="en-US" sz="1200" b="1" dirty="0"/>
          </a:p>
          <a:p>
            <a:pPr lvl="1">
              <a:lnSpc>
                <a:spcPct val="100000"/>
              </a:lnSpc>
              <a:spcBef>
                <a:spcPts val="0"/>
              </a:spcBef>
            </a:pPr>
            <a:r>
              <a:rPr lang="en-US" sz="1200" b="0" dirty="0">
                <a:effectLst/>
                <a:latin typeface="Consolas" panose="020B0609020204030204" pitchFamily="49" charset="0"/>
              </a:rPr>
              <a:t>claude-3-5-sonnet</a:t>
            </a:r>
          </a:p>
          <a:p>
            <a:pPr lvl="1">
              <a:lnSpc>
                <a:spcPct val="100000"/>
              </a:lnSpc>
              <a:spcBef>
                <a:spcPts val="0"/>
              </a:spcBef>
            </a:pPr>
            <a:r>
              <a:rPr lang="en-US" sz="1200" b="0" dirty="0">
                <a:effectLst/>
                <a:latin typeface="Consolas" panose="020B0609020204030204" pitchFamily="49" charset="0"/>
              </a:rPr>
              <a:t>claude-3-sonnet</a:t>
            </a:r>
          </a:p>
          <a:p>
            <a:pPr lvl="1">
              <a:lnSpc>
                <a:spcPct val="100000"/>
              </a:lnSpc>
              <a:spcBef>
                <a:spcPts val="0"/>
              </a:spcBef>
            </a:pPr>
            <a:r>
              <a:rPr lang="en-US" sz="1200" b="0" dirty="0">
                <a:solidFill>
                  <a:srgbClr val="FF0000"/>
                </a:solidFill>
                <a:effectLst/>
                <a:latin typeface="Consolas" panose="020B0609020204030204" pitchFamily="49" charset="0"/>
              </a:rPr>
              <a:t>claude-3-haiku</a:t>
            </a:r>
          </a:p>
          <a:p>
            <a:pPr lvl="1">
              <a:lnSpc>
                <a:spcPct val="100000"/>
              </a:lnSpc>
              <a:spcBef>
                <a:spcPts val="0"/>
              </a:spcBef>
            </a:pPr>
            <a:r>
              <a:rPr lang="en-US" sz="1200" b="0" dirty="0">
                <a:solidFill>
                  <a:srgbClr val="FF0000"/>
                </a:solidFill>
                <a:effectLst/>
                <a:latin typeface="Consolas" panose="020B0609020204030204" pitchFamily="49" charset="0"/>
              </a:rPr>
              <a:t>claude-3-opus</a:t>
            </a:r>
          </a:p>
          <a:p>
            <a:pPr>
              <a:lnSpc>
                <a:spcPct val="100000"/>
              </a:lnSpc>
              <a:spcBef>
                <a:spcPts val="0"/>
              </a:spcBef>
            </a:pPr>
            <a:r>
              <a:rPr lang="en-US" sz="1200" b="1" dirty="0">
                <a:effectLst/>
              </a:rPr>
              <a:t>Meta</a:t>
            </a:r>
            <a:r>
              <a:rPr lang="en-US" sz="1200" b="0" dirty="0">
                <a:effectLst/>
              </a:rPr>
              <a:t> (not fully supported – doesn’t work with tools)</a:t>
            </a:r>
            <a:endParaRPr lang="en-US" sz="1200" dirty="0"/>
          </a:p>
          <a:p>
            <a:pPr lvl="1">
              <a:lnSpc>
                <a:spcPct val="100000"/>
              </a:lnSpc>
              <a:spcBef>
                <a:spcPts val="0"/>
              </a:spcBef>
            </a:pPr>
            <a:r>
              <a:rPr lang="en-US" sz="1200" b="0" dirty="0">
                <a:effectLst/>
                <a:latin typeface="Consolas" panose="020B0609020204030204" pitchFamily="49" charset="0"/>
              </a:rPr>
              <a:t>llama3-1-70b</a:t>
            </a:r>
          </a:p>
          <a:p>
            <a:pPr lvl="1">
              <a:lnSpc>
                <a:spcPct val="100000"/>
              </a:lnSpc>
              <a:spcBef>
                <a:spcPts val="0"/>
              </a:spcBef>
            </a:pPr>
            <a:r>
              <a:rPr lang="en-US" sz="1200" b="0" dirty="0">
                <a:effectLst/>
                <a:latin typeface="Consolas" panose="020B0609020204030204" pitchFamily="49" charset="0"/>
              </a:rPr>
              <a:t>llama3-1-8b</a:t>
            </a:r>
          </a:p>
          <a:p>
            <a:pPr lvl="1">
              <a:lnSpc>
                <a:spcPct val="100000"/>
              </a:lnSpc>
              <a:spcBef>
                <a:spcPts val="0"/>
              </a:spcBef>
            </a:pPr>
            <a:r>
              <a:rPr lang="en-US" sz="1200" b="0" dirty="0">
                <a:effectLst/>
                <a:latin typeface="Consolas" panose="020B0609020204030204" pitchFamily="49" charset="0"/>
              </a:rPr>
              <a:t>openbiollm-llama3-70b</a:t>
            </a:r>
          </a:p>
          <a:p>
            <a:pPr lvl="1">
              <a:lnSpc>
                <a:spcPct val="100000"/>
              </a:lnSpc>
              <a:spcBef>
                <a:spcPts val="0"/>
              </a:spcBef>
            </a:pPr>
            <a:r>
              <a:rPr lang="en-US" sz="1200" b="0" dirty="0">
                <a:effectLst/>
                <a:latin typeface="Consolas" panose="020B0609020204030204" pitchFamily="49" charset="0"/>
              </a:rPr>
              <a:t>llama2-13b</a:t>
            </a:r>
          </a:p>
          <a:p>
            <a:pPr>
              <a:lnSpc>
                <a:spcPct val="100000"/>
              </a:lnSpc>
              <a:spcBef>
                <a:spcPts val="0"/>
              </a:spcBef>
            </a:pPr>
            <a:r>
              <a:rPr lang="en-US" sz="1200" b="1" dirty="0">
                <a:effectLst/>
              </a:rPr>
              <a:t>Azure OpenAI </a:t>
            </a:r>
            <a:r>
              <a:rPr lang="en-US" sz="1200" b="0" dirty="0">
                <a:effectLst/>
              </a:rPr>
              <a:t>(recommended)</a:t>
            </a:r>
          </a:p>
          <a:p>
            <a:pPr lvl="1">
              <a:lnSpc>
                <a:spcPct val="100000"/>
              </a:lnSpc>
              <a:spcBef>
                <a:spcPts val="0"/>
              </a:spcBef>
            </a:pPr>
            <a:r>
              <a:rPr lang="en-US" sz="1200" b="0" dirty="0">
                <a:solidFill>
                  <a:srgbClr val="FF0000"/>
                </a:solidFill>
                <a:effectLst/>
                <a:latin typeface="Consolas" panose="020B0609020204030204" pitchFamily="49" charset="0"/>
              </a:rPr>
              <a:t>azure-gpt-4o</a:t>
            </a:r>
          </a:p>
          <a:p>
            <a:pPr lvl="1">
              <a:lnSpc>
                <a:spcPct val="100000"/>
              </a:lnSpc>
              <a:spcBef>
                <a:spcPts val="0"/>
              </a:spcBef>
            </a:pPr>
            <a:r>
              <a:rPr lang="en-US" sz="1200" b="0" dirty="0">
                <a:solidFill>
                  <a:srgbClr val="FF0000"/>
                </a:solidFill>
                <a:effectLst/>
                <a:latin typeface="Consolas" panose="020B0609020204030204" pitchFamily="49" charset="0"/>
              </a:rPr>
              <a:t>azure-gpt-3.5-turbo</a:t>
            </a:r>
          </a:p>
          <a:p>
            <a:pPr lvl="1">
              <a:lnSpc>
                <a:spcPct val="100000"/>
              </a:lnSpc>
              <a:spcBef>
                <a:spcPts val="0"/>
              </a:spcBef>
            </a:pPr>
            <a:r>
              <a:rPr lang="en-US" sz="1200" b="0" dirty="0">
                <a:solidFill>
                  <a:srgbClr val="FF0000"/>
                </a:solidFill>
                <a:effectLst/>
                <a:latin typeface="Consolas" panose="020B0609020204030204" pitchFamily="49" charset="0"/>
              </a:rPr>
              <a:t>azure-gpt-4o-mini</a:t>
            </a:r>
          </a:p>
          <a:p>
            <a:pPr lvl="1">
              <a:lnSpc>
                <a:spcPct val="100000"/>
              </a:lnSpc>
              <a:spcBef>
                <a:spcPts val="0"/>
              </a:spcBef>
            </a:pPr>
            <a:r>
              <a:rPr lang="en-US" sz="1200" b="0" dirty="0">
                <a:solidFill>
                  <a:srgbClr val="FF0000"/>
                </a:solidFill>
                <a:effectLst/>
                <a:latin typeface="Consolas" panose="020B0609020204030204" pitchFamily="49" charset="0"/>
              </a:rPr>
              <a:t>azure-gpt-3.5-turbo-16k</a:t>
            </a:r>
          </a:p>
          <a:p>
            <a:pPr lvl="1">
              <a:lnSpc>
                <a:spcPct val="100000"/>
              </a:lnSpc>
              <a:spcBef>
                <a:spcPts val="0"/>
              </a:spcBef>
            </a:pPr>
            <a:r>
              <a:rPr lang="en-US" sz="1200" b="0" dirty="0">
                <a:solidFill>
                  <a:srgbClr val="FF0000"/>
                </a:solidFill>
                <a:effectLst/>
                <a:latin typeface="Consolas" panose="020B0609020204030204" pitchFamily="49" charset="0"/>
              </a:rPr>
              <a:t>azure-gpt-4-turbo-20240409</a:t>
            </a:r>
          </a:p>
          <a:p>
            <a:pPr lvl="1">
              <a:lnSpc>
                <a:spcPct val="100000"/>
              </a:lnSpc>
              <a:spcBef>
                <a:spcPts val="0"/>
              </a:spcBef>
            </a:pPr>
            <a:r>
              <a:rPr lang="en-US" sz="1200" b="0" dirty="0">
                <a:solidFill>
                  <a:srgbClr val="FF0000"/>
                </a:solidFill>
                <a:effectLst/>
                <a:latin typeface="Consolas" panose="020B0609020204030204" pitchFamily="49" charset="0"/>
              </a:rPr>
              <a:t>azure-gpt-4</a:t>
            </a:r>
          </a:p>
          <a:p>
            <a:pPr>
              <a:lnSpc>
                <a:spcPct val="100000"/>
              </a:lnSpc>
              <a:spcBef>
                <a:spcPts val="0"/>
              </a:spcBef>
            </a:pPr>
            <a:r>
              <a:rPr lang="en-US" sz="1200" b="1" dirty="0" err="1">
                <a:effectLst/>
              </a:rPr>
              <a:t>MistralAI</a:t>
            </a:r>
            <a:r>
              <a:rPr lang="en-US" sz="1200" b="1" dirty="0">
                <a:effectLst/>
              </a:rPr>
              <a:t> </a:t>
            </a:r>
            <a:r>
              <a:rPr lang="en-US" sz="1200" b="0" dirty="0">
                <a:effectLst/>
              </a:rPr>
              <a:t>(not fully supported – tools occasionally work, but the models are prone to hallucination. These may also fail to take multiple agentic steps.)</a:t>
            </a:r>
            <a:endParaRPr lang="en-US" sz="1200" b="1" dirty="0">
              <a:effectLst/>
            </a:endParaRPr>
          </a:p>
          <a:p>
            <a:pPr lvl="1">
              <a:lnSpc>
                <a:spcPct val="100000"/>
              </a:lnSpc>
              <a:spcBef>
                <a:spcPts val="0"/>
              </a:spcBef>
            </a:pPr>
            <a:r>
              <a:rPr lang="en-US" sz="1200" b="0" dirty="0">
                <a:effectLst/>
                <a:latin typeface="Consolas" panose="020B0609020204030204" pitchFamily="49" charset="0"/>
              </a:rPr>
              <a:t>mistral-large-2</a:t>
            </a:r>
          </a:p>
          <a:p>
            <a:pPr lvl="1">
              <a:lnSpc>
                <a:spcPct val="100000"/>
              </a:lnSpc>
              <a:spcBef>
                <a:spcPts val="0"/>
              </a:spcBef>
            </a:pPr>
            <a:r>
              <a:rPr lang="en-US" sz="1200" b="0" dirty="0">
                <a:effectLst/>
                <a:latin typeface="Consolas" panose="020B0609020204030204" pitchFamily="49" charset="0"/>
              </a:rPr>
              <a:t>mistral-large</a:t>
            </a:r>
          </a:p>
          <a:p>
            <a:pPr lvl="1">
              <a:lnSpc>
                <a:spcPct val="100000"/>
              </a:lnSpc>
              <a:spcBef>
                <a:spcPts val="0"/>
              </a:spcBef>
            </a:pPr>
            <a:r>
              <a:rPr lang="en-US" sz="1200" b="0" dirty="0">
                <a:effectLst/>
                <a:latin typeface="Consolas" panose="020B0609020204030204" pitchFamily="49" charset="0"/>
              </a:rPr>
              <a:t>mistral-7b-instruct</a:t>
            </a:r>
          </a:p>
          <a:p>
            <a:pPr lvl="1">
              <a:lnSpc>
                <a:spcPct val="100000"/>
              </a:lnSpc>
              <a:spcBef>
                <a:spcPts val="0"/>
              </a:spcBef>
            </a:pPr>
            <a:r>
              <a:rPr lang="en-US" sz="1200" b="0" dirty="0">
                <a:effectLst/>
                <a:latin typeface="Consolas" panose="020B0609020204030204" pitchFamily="49" charset="0"/>
              </a:rPr>
              <a:t>mixtral-8x7b-instruct</a:t>
            </a:r>
          </a:p>
          <a:p>
            <a:pPr>
              <a:lnSpc>
                <a:spcPct val="100000"/>
              </a:lnSpc>
              <a:spcBef>
                <a:spcPts val="0"/>
              </a:spcBef>
            </a:pPr>
            <a:r>
              <a:rPr lang="en-US" sz="1200" b="1" dirty="0">
                <a:effectLst/>
              </a:rPr>
              <a:t>Amazon </a:t>
            </a:r>
            <a:r>
              <a:rPr lang="en-US" sz="1200" dirty="0">
                <a:effectLst/>
              </a:rPr>
              <a:t>(Gives decent answers but doesn’t seem to use tools – probably has expansive </a:t>
            </a:r>
            <a:r>
              <a:rPr lang="en-US" sz="1200">
                <a:effectLst/>
              </a:rPr>
              <a:t>training data.)</a:t>
            </a:r>
            <a:endParaRPr lang="en-US" sz="1200" b="1" dirty="0">
              <a:effectLst/>
            </a:endParaRPr>
          </a:p>
          <a:p>
            <a:pPr lvl="1">
              <a:lnSpc>
                <a:spcPct val="100000"/>
              </a:lnSpc>
              <a:spcBef>
                <a:spcPts val="0"/>
              </a:spcBef>
            </a:pPr>
            <a:r>
              <a:rPr lang="en-US" sz="1200" b="0" dirty="0">
                <a:effectLst/>
                <a:latin typeface="Consolas" panose="020B0609020204030204" pitchFamily="49" charset="0"/>
              </a:rPr>
              <a:t>amazon-titan-text-premier</a:t>
            </a:r>
          </a:p>
          <a:p>
            <a:pPr>
              <a:lnSpc>
                <a:spcPct val="100000"/>
              </a:lnSpc>
              <a:spcBef>
                <a:spcPts val="0"/>
              </a:spcBef>
            </a:pPr>
            <a:r>
              <a:rPr lang="en-US" sz="1200" b="1" dirty="0">
                <a:effectLst/>
              </a:rPr>
              <a:t>Cohere</a:t>
            </a:r>
          </a:p>
          <a:p>
            <a:pPr lvl="1">
              <a:lnSpc>
                <a:spcPct val="100000"/>
              </a:lnSpc>
              <a:spcBef>
                <a:spcPts val="0"/>
              </a:spcBef>
            </a:pPr>
            <a:r>
              <a:rPr lang="en-US" sz="1200" b="0" dirty="0">
                <a:effectLst/>
                <a:latin typeface="Consolas" panose="020B0609020204030204" pitchFamily="49" charset="0"/>
              </a:rPr>
              <a:t>cohere-command-r-plus</a:t>
            </a:r>
            <a:br>
              <a:rPr lang="en-US" sz="1200" b="0" dirty="0">
                <a:effectLst/>
                <a:latin typeface="Consolas" panose="020B0609020204030204" pitchFamily="49" charset="0"/>
              </a:rPr>
            </a:br>
            <a:endParaRPr lang="en-US" sz="1200" b="0" dirty="0">
              <a:effectLst/>
              <a:latin typeface="Consolas" panose="020B0609020204030204" pitchFamily="49" charset="0"/>
            </a:endParaRPr>
          </a:p>
          <a:p>
            <a:pPr>
              <a:lnSpc>
                <a:spcPct val="100000"/>
              </a:lnSpc>
              <a:spcBef>
                <a:spcPts val="0"/>
              </a:spcBef>
            </a:pPr>
            <a:endParaRPr lang="en-US" sz="1200" dirty="0"/>
          </a:p>
        </p:txBody>
      </p:sp>
    </p:spTree>
    <p:extLst>
      <p:ext uri="{BB962C8B-B14F-4D97-AF65-F5344CB8AC3E}">
        <p14:creationId xmlns:p14="http://schemas.microsoft.com/office/powerpoint/2010/main" val="3228713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1549B5-CB88-2A0B-B70D-87B860C2368A}"/>
              </a:ext>
            </a:extLst>
          </p:cNvPr>
          <p:cNvSpPr>
            <a:spLocks noGrp="1"/>
          </p:cNvSpPr>
          <p:nvPr>
            <p:ph type="title"/>
          </p:nvPr>
        </p:nvSpPr>
        <p:spPr/>
        <p:txBody>
          <a:bodyPr/>
          <a:lstStyle/>
          <a:p>
            <a:r>
              <a:rPr lang="en-US" dirty="0" err="1"/>
              <a:t>Quickstart</a:t>
            </a:r>
            <a:r>
              <a:rPr lang="en-US" dirty="0"/>
              <a:t> Example</a:t>
            </a:r>
          </a:p>
        </p:txBody>
      </p:sp>
    </p:spTree>
    <p:extLst>
      <p:ext uri="{BB962C8B-B14F-4D97-AF65-F5344CB8AC3E}">
        <p14:creationId xmlns:p14="http://schemas.microsoft.com/office/powerpoint/2010/main" val="818553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FE4BD-01EC-0428-C393-C237703813AD}"/>
              </a:ext>
            </a:extLst>
          </p:cNvPr>
          <p:cNvPicPr>
            <a:picLocks noChangeAspect="1"/>
          </p:cNvPicPr>
          <p:nvPr/>
        </p:nvPicPr>
        <p:blipFill>
          <a:blip r:embed="rId2"/>
          <a:stretch>
            <a:fillRect/>
          </a:stretch>
        </p:blipFill>
        <p:spPr>
          <a:xfrm>
            <a:off x="1672389" y="1221397"/>
            <a:ext cx="9603205" cy="4743422"/>
          </a:xfrm>
          <a:prstGeom prst="rect">
            <a:avLst/>
          </a:prstGeom>
        </p:spPr>
      </p:pic>
      <p:sp>
        <p:nvSpPr>
          <p:cNvPr id="2" name="Title 1">
            <a:extLst>
              <a:ext uri="{FF2B5EF4-FFF2-40B4-BE49-F238E27FC236}">
                <a16:creationId xmlns:a16="http://schemas.microsoft.com/office/drawing/2014/main" id="{B728E865-4E61-6D9D-E688-3FEFE59B58EA}"/>
              </a:ext>
            </a:extLst>
          </p:cNvPr>
          <p:cNvSpPr>
            <a:spLocks noGrp="1"/>
          </p:cNvSpPr>
          <p:nvPr>
            <p:ph type="title"/>
          </p:nvPr>
        </p:nvSpPr>
        <p:spPr/>
        <p:txBody>
          <a:bodyPr/>
          <a:lstStyle/>
          <a:p>
            <a:r>
              <a:rPr lang="en-US" dirty="0" err="1"/>
              <a:t>Quickstart</a:t>
            </a:r>
            <a:r>
              <a:rPr lang="en-US" dirty="0"/>
              <a:t> - 1</a:t>
            </a:r>
          </a:p>
        </p:txBody>
      </p:sp>
      <p:sp>
        <p:nvSpPr>
          <p:cNvPr id="6" name="Rectangle 5">
            <a:extLst>
              <a:ext uri="{FF2B5EF4-FFF2-40B4-BE49-F238E27FC236}">
                <a16:creationId xmlns:a16="http://schemas.microsoft.com/office/drawing/2014/main" id="{40025760-3219-1CA1-0FE2-D3AD06FC765A}"/>
              </a:ext>
            </a:extLst>
          </p:cNvPr>
          <p:cNvSpPr/>
          <p:nvPr/>
        </p:nvSpPr>
        <p:spPr>
          <a:xfrm>
            <a:off x="2466975" y="2238375"/>
            <a:ext cx="938213" cy="34730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39D0EC-CDB9-7350-765A-2D375358AED8}"/>
              </a:ext>
            </a:extLst>
          </p:cNvPr>
          <p:cNvSpPr txBox="1"/>
          <p:nvPr/>
        </p:nvSpPr>
        <p:spPr>
          <a:xfrm>
            <a:off x="3423219" y="2216346"/>
            <a:ext cx="7347076" cy="369332"/>
          </a:xfrm>
          <a:prstGeom prst="rect">
            <a:avLst/>
          </a:prstGeom>
          <a:noFill/>
        </p:spPr>
        <p:txBody>
          <a:bodyPr wrap="none" rtlCol="0">
            <a:spAutoFit/>
          </a:bodyPr>
          <a:lstStyle/>
          <a:p>
            <a:r>
              <a:rPr lang="en-US" dirty="0"/>
              <a:t>Specify model name from </a:t>
            </a:r>
            <a:r>
              <a:rPr lang="en-US" dirty="0">
                <a:hlinkClick r:id="rId3" action="ppaction://hlinksldjump"/>
              </a:rPr>
              <a:t>Slide 6</a:t>
            </a:r>
            <a:r>
              <a:rPr lang="en-US" dirty="0"/>
              <a:t>. We are using the azure-gpt-4o model here.</a:t>
            </a:r>
          </a:p>
        </p:txBody>
      </p:sp>
      <p:sp>
        <p:nvSpPr>
          <p:cNvPr id="8" name="Rectangle 7">
            <a:extLst>
              <a:ext uri="{FF2B5EF4-FFF2-40B4-BE49-F238E27FC236}">
                <a16:creationId xmlns:a16="http://schemas.microsoft.com/office/drawing/2014/main" id="{EF17B047-EBB0-F93C-CB4C-4D55B33A1247}"/>
              </a:ext>
            </a:extLst>
          </p:cNvPr>
          <p:cNvSpPr/>
          <p:nvPr/>
        </p:nvSpPr>
        <p:spPr>
          <a:xfrm>
            <a:off x="6004884" y="5521998"/>
            <a:ext cx="938213" cy="34730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096276-F63F-74F0-CE79-318647B4D6EA}"/>
              </a:ext>
            </a:extLst>
          </p:cNvPr>
          <p:cNvSpPr txBox="1"/>
          <p:nvPr/>
        </p:nvSpPr>
        <p:spPr>
          <a:xfrm>
            <a:off x="4386263" y="5152666"/>
            <a:ext cx="4269246" cy="369332"/>
          </a:xfrm>
          <a:prstGeom prst="rect">
            <a:avLst/>
          </a:prstGeom>
          <a:noFill/>
        </p:spPr>
        <p:txBody>
          <a:bodyPr wrap="none" rtlCol="0">
            <a:spAutoFit/>
          </a:bodyPr>
          <a:lstStyle/>
          <a:p>
            <a:r>
              <a:rPr lang="en-US" dirty="0"/>
              <a:t>Press “Execute” to create the agent handler.</a:t>
            </a:r>
          </a:p>
        </p:txBody>
      </p:sp>
    </p:spTree>
    <p:extLst>
      <p:ext uri="{BB962C8B-B14F-4D97-AF65-F5344CB8AC3E}">
        <p14:creationId xmlns:p14="http://schemas.microsoft.com/office/powerpoint/2010/main" val="2897783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3D274A9-B7EB-1924-456F-86278299995C}"/>
              </a:ext>
            </a:extLst>
          </p:cNvPr>
          <p:cNvPicPr>
            <a:picLocks noChangeAspect="1"/>
          </p:cNvPicPr>
          <p:nvPr/>
        </p:nvPicPr>
        <p:blipFill>
          <a:blip r:embed="rId2"/>
          <a:stretch>
            <a:fillRect/>
          </a:stretch>
        </p:blipFill>
        <p:spPr>
          <a:xfrm>
            <a:off x="3015703" y="3708639"/>
            <a:ext cx="8453658" cy="2440720"/>
          </a:xfrm>
          <a:prstGeom prst="rect">
            <a:avLst/>
          </a:prstGeom>
        </p:spPr>
      </p:pic>
      <p:pic>
        <p:nvPicPr>
          <p:cNvPr id="8" name="Picture 7">
            <a:extLst>
              <a:ext uri="{FF2B5EF4-FFF2-40B4-BE49-F238E27FC236}">
                <a16:creationId xmlns:a16="http://schemas.microsoft.com/office/drawing/2014/main" id="{DDE5CE38-FE74-234F-B4A0-A000680BF8C8}"/>
              </a:ext>
            </a:extLst>
          </p:cNvPr>
          <p:cNvPicPr>
            <a:picLocks noChangeAspect="1"/>
          </p:cNvPicPr>
          <p:nvPr/>
        </p:nvPicPr>
        <p:blipFill>
          <a:blip r:embed="rId3"/>
          <a:stretch>
            <a:fillRect/>
          </a:stretch>
        </p:blipFill>
        <p:spPr>
          <a:xfrm>
            <a:off x="0" y="1333986"/>
            <a:ext cx="8808448" cy="2178297"/>
          </a:xfrm>
          <a:prstGeom prst="rect">
            <a:avLst/>
          </a:prstGeom>
        </p:spPr>
      </p:pic>
      <p:sp>
        <p:nvSpPr>
          <p:cNvPr id="2" name="Title 1">
            <a:extLst>
              <a:ext uri="{FF2B5EF4-FFF2-40B4-BE49-F238E27FC236}">
                <a16:creationId xmlns:a16="http://schemas.microsoft.com/office/drawing/2014/main" id="{B728E865-4E61-6D9D-E688-3FEFE59B58EA}"/>
              </a:ext>
            </a:extLst>
          </p:cNvPr>
          <p:cNvSpPr>
            <a:spLocks noGrp="1"/>
          </p:cNvSpPr>
          <p:nvPr>
            <p:ph type="title"/>
          </p:nvPr>
        </p:nvSpPr>
        <p:spPr/>
        <p:txBody>
          <a:bodyPr/>
          <a:lstStyle/>
          <a:p>
            <a:r>
              <a:rPr lang="en-US" dirty="0" err="1"/>
              <a:t>Quickstart</a:t>
            </a:r>
            <a:r>
              <a:rPr lang="en-US" dirty="0"/>
              <a:t> - 2</a:t>
            </a:r>
          </a:p>
        </p:txBody>
      </p:sp>
      <p:sp>
        <p:nvSpPr>
          <p:cNvPr id="6" name="Rectangle 5">
            <a:extLst>
              <a:ext uri="{FF2B5EF4-FFF2-40B4-BE49-F238E27FC236}">
                <a16:creationId xmlns:a16="http://schemas.microsoft.com/office/drawing/2014/main" id="{AB00D3F6-165A-4EC8-4BC7-470D76464CA1}"/>
              </a:ext>
            </a:extLst>
          </p:cNvPr>
          <p:cNvSpPr/>
          <p:nvPr/>
        </p:nvSpPr>
        <p:spPr>
          <a:xfrm>
            <a:off x="685800" y="1885950"/>
            <a:ext cx="2090738" cy="190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D7CC556-0E49-A108-C6E9-97BF833FD631}"/>
              </a:ext>
            </a:extLst>
          </p:cNvPr>
          <p:cNvSpPr txBox="1"/>
          <p:nvPr/>
        </p:nvSpPr>
        <p:spPr>
          <a:xfrm>
            <a:off x="2852381" y="1733867"/>
            <a:ext cx="5130315" cy="646331"/>
          </a:xfrm>
          <a:prstGeom prst="rect">
            <a:avLst/>
          </a:prstGeom>
          <a:noFill/>
        </p:spPr>
        <p:txBody>
          <a:bodyPr wrap="none" rtlCol="0">
            <a:spAutoFit/>
          </a:bodyPr>
          <a:lstStyle/>
          <a:p>
            <a:r>
              <a:rPr lang="en-US" dirty="0">
                <a:solidFill>
                  <a:schemeClr val="bg1"/>
                </a:solidFill>
              </a:rPr>
              <a:t>Copy the </a:t>
            </a:r>
            <a:r>
              <a:rPr lang="en-US" dirty="0" err="1">
                <a:solidFill>
                  <a:schemeClr val="bg1"/>
                </a:solidFill>
              </a:rPr>
              <a:t>agentid</a:t>
            </a:r>
            <a:r>
              <a:rPr lang="en-US" dirty="0">
                <a:solidFill>
                  <a:schemeClr val="bg1"/>
                </a:solidFill>
              </a:rPr>
              <a:t> from the response and copy to the </a:t>
            </a:r>
          </a:p>
          <a:p>
            <a:r>
              <a:rPr lang="en-US" dirty="0">
                <a:solidFill>
                  <a:schemeClr val="bg1"/>
                </a:solidFill>
              </a:rPr>
              <a:t>/agent/query/ endpoint.</a:t>
            </a:r>
          </a:p>
        </p:txBody>
      </p:sp>
      <p:sp>
        <p:nvSpPr>
          <p:cNvPr id="10" name="Rectangle 9">
            <a:extLst>
              <a:ext uri="{FF2B5EF4-FFF2-40B4-BE49-F238E27FC236}">
                <a16:creationId xmlns:a16="http://schemas.microsoft.com/office/drawing/2014/main" id="{069F7777-EB4A-87F2-D1E2-61598B443CB3}"/>
              </a:ext>
            </a:extLst>
          </p:cNvPr>
          <p:cNvSpPr/>
          <p:nvPr/>
        </p:nvSpPr>
        <p:spPr>
          <a:xfrm>
            <a:off x="3867150" y="4657724"/>
            <a:ext cx="2228850" cy="3476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nnector: Elbow 11">
            <a:extLst>
              <a:ext uri="{FF2B5EF4-FFF2-40B4-BE49-F238E27FC236}">
                <a16:creationId xmlns:a16="http://schemas.microsoft.com/office/drawing/2014/main" id="{CEF1C19B-45EB-0FC3-BFA5-BF30F9CF72E6}"/>
              </a:ext>
            </a:extLst>
          </p:cNvPr>
          <p:cNvCxnSpPr>
            <a:stCxn id="6" idx="2"/>
            <a:endCxn id="10" idx="1"/>
          </p:cNvCxnSpPr>
          <p:nvPr/>
        </p:nvCxnSpPr>
        <p:spPr>
          <a:xfrm rot="16200000" flipH="1">
            <a:off x="1421606" y="2386012"/>
            <a:ext cx="2755106" cy="2135981"/>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56304BC-EDD5-1988-80AB-3D5F2F2050FD}"/>
              </a:ext>
            </a:extLst>
          </p:cNvPr>
          <p:cNvSpPr/>
          <p:nvPr/>
        </p:nvSpPr>
        <p:spPr>
          <a:xfrm>
            <a:off x="3833812" y="5117973"/>
            <a:ext cx="2228850" cy="347663"/>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8B11CFA-DD83-88C0-EADC-5287921225C0}"/>
              </a:ext>
            </a:extLst>
          </p:cNvPr>
          <p:cNvSpPr txBox="1"/>
          <p:nvPr/>
        </p:nvSpPr>
        <p:spPr>
          <a:xfrm>
            <a:off x="6015037" y="5107138"/>
            <a:ext cx="4256486" cy="369332"/>
          </a:xfrm>
          <a:prstGeom prst="rect">
            <a:avLst/>
          </a:prstGeom>
          <a:noFill/>
        </p:spPr>
        <p:txBody>
          <a:bodyPr wrap="none" rtlCol="0">
            <a:spAutoFit/>
          </a:bodyPr>
          <a:lstStyle/>
          <a:p>
            <a:r>
              <a:rPr lang="en-US" dirty="0"/>
              <a:t>This is the query we want to ask the model.</a:t>
            </a:r>
          </a:p>
        </p:txBody>
      </p:sp>
      <p:sp>
        <p:nvSpPr>
          <p:cNvPr id="15" name="Rectangle 14">
            <a:extLst>
              <a:ext uri="{FF2B5EF4-FFF2-40B4-BE49-F238E27FC236}">
                <a16:creationId xmlns:a16="http://schemas.microsoft.com/office/drawing/2014/main" id="{14F21594-9CB1-B88D-F4BC-C3AF79DBD5C5}"/>
              </a:ext>
            </a:extLst>
          </p:cNvPr>
          <p:cNvSpPr/>
          <p:nvPr/>
        </p:nvSpPr>
        <p:spPr>
          <a:xfrm>
            <a:off x="4938713" y="5805424"/>
            <a:ext cx="823912" cy="347663"/>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D14DDDC-8025-C613-B61C-AA05BD4747C2}"/>
              </a:ext>
            </a:extLst>
          </p:cNvPr>
          <p:cNvSpPr txBox="1"/>
          <p:nvPr/>
        </p:nvSpPr>
        <p:spPr>
          <a:xfrm>
            <a:off x="5672137" y="6174419"/>
            <a:ext cx="4822410" cy="369332"/>
          </a:xfrm>
          <a:prstGeom prst="rect">
            <a:avLst/>
          </a:prstGeom>
          <a:noFill/>
        </p:spPr>
        <p:txBody>
          <a:bodyPr wrap="none" rtlCol="0">
            <a:spAutoFit/>
          </a:bodyPr>
          <a:lstStyle/>
          <a:p>
            <a:r>
              <a:rPr lang="en-US" dirty="0"/>
              <a:t>Press “Execute” to submit the query to the agent.</a:t>
            </a:r>
          </a:p>
        </p:txBody>
      </p:sp>
    </p:spTree>
    <p:extLst>
      <p:ext uri="{BB962C8B-B14F-4D97-AF65-F5344CB8AC3E}">
        <p14:creationId xmlns:p14="http://schemas.microsoft.com/office/powerpoint/2010/main" val="439147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8E865-4E61-6D9D-E688-3FEFE59B58EA}"/>
              </a:ext>
            </a:extLst>
          </p:cNvPr>
          <p:cNvSpPr>
            <a:spLocks noGrp="1"/>
          </p:cNvSpPr>
          <p:nvPr>
            <p:ph type="title"/>
          </p:nvPr>
        </p:nvSpPr>
        <p:spPr/>
        <p:txBody>
          <a:bodyPr/>
          <a:lstStyle/>
          <a:p>
            <a:r>
              <a:rPr lang="en-US" dirty="0" err="1"/>
              <a:t>Quickstart</a:t>
            </a:r>
            <a:r>
              <a:rPr lang="en-US" dirty="0"/>
              <a:t> - 3</a:t>
            </a:r>
          </a:p>
        </p:txBody>
      </p:sp>
      <p:pic>
        <p:nvPicPr>
          <p:cNvPr id="7" name="Picture 6">
            <a:extLst>
              <a:ext uri="{FF2B5EF4-FFF2-40B4-BE49-F238E27FC236}">
                <a16:creationId xmlns:a16="http://schemas.microsoft.com/office/drawing/2014/main" id="{38D2FE6D-A166-A7AE-A428-25F2D87FFBCF}"/>
              </a:ext>
            </a:extLst>
          </p:cNvPr>
          <p:cNvPicPr>
            <a:picLocks noChangeAspect="1"/>
          </p:cNvPicPr>
          <p:nvPr/>
        </p:nvPicPr>
        <p:blipFill>
          <a:blip r:embed="rId2"/>
          <a:stretch>
            <a:fillRect/>
          </a:stretch>
        </p:blipFill>
        <p:spPr>
          <a:xfrm>
            <a:off x="0" y="1596093"/>
            <a:ext cx="12192000" cy="4307258"/>
          </a:xfrm>
          <a:prstGeom prst="rect">
            <a:avLst/>
          </a:prstGeom>
        </p:spPr>
      </p:pic>
      <p:sp>
        <p:nvSpPr>
          <p:cNvPr id="8" name="Rectangle 7">
            <a:extLst>
              <a:ext uri="{FF2B5EF4-FFF2-40B4-BE49-F238E27FC236}">
                <a16:creationId xmlns:a16="http://schemas.microsoft.com/office/drawing/2014/main" id="{ABB40DA1-F6A8-CE40-BDE0-AF799D881EA4}"/>
              </a:ext>
            </a:extLst>
          </p:cNvPr>
          <p:cNvSpPr/>
          <p:nvPr/>
        </p:nvSpPr>
        <p:spPr>
          <a:xfrm>
            <a:off x="792162" y="2439924"/>
            <a:ext cx="5875337" cy="582676"/>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0DF23D-9474-3CC8-A279-0AA0B4D7E90D}"/>
              </a:ext>
            </a:extLst>
          </p:cNvPr>
          <p:cNvSpPr txBox="1"/>
          <p:nvPr/>
        </p:nvSpPr>
        <p:spPr>
          <a:xfrm>
            <a:off x="1849437" y="1833343"/>
            <a:ext cx="6781793" cy="369332"/>
          </a:xfrm>
          <a:prstGeom prst="rect">
            <a:avLst/>
          </a:prstGeom>
          <a:noFill/>
        </p:spPr>
        <p:txBody>
          <a:bodyPr wrap="none" rtlCol="0">
            <a:spAutoFit/>
          </a:bodyPr>
          <a:lstStyle/>
          <a:p>
            <a:r>
              <a:rPr lang="en-US" dirty="0"/>
              <a:t>After the agent formulates a response, it will return it as a JSON object.</a:t>
            </a:r>
          </a:p>
        </p:txBody>
      </p:sp>
    </p:spTree>
    <p:extLst>
      <p:ext uri="{BB962C8B-B14F-4D97-AF65-F5344CB8AC3E}">
        <p14:creationId xmlns:p14="http://schemas.microsoft.com/office/powerpoint/2010/main" val="1262352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894</Words>
  <Application>Microsoft Office PowerPoint</Application>
  <PresentationFormat>Widescreen</PresentationFormat>
  <Paragraphs>76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Consolas</vt:lpstr>
      <vt:lpstr>Office Theme</vt:lpstr>
      <vt:lpstr>ToxPipe Agentic API Guide</vt:lpstr>
      <vt:lpstr>PowerPoint Presentation</vt:lpstr>
      <vt:lpstr>Availability</vt:lpstr>
      <vt:lpstr>Version Differences</vt:lpstr>
      <vt:lpstr>Usage</vt:lpstr>
      <vt:lpstr>Supported Models</vt:lpstr>
      <vt:lpstr>Quickstart Example</vt:lpstr>
      <vt:lpstr>Quickstart - 1</vt:lpstr>
      <vt:lpstr>Quickstart - 2</vt:lpstr>
      <vt:lpstr>Quickstart - 3</vt:lpstr>
    </vt:vector>
  </TitlesOfParts>
  <Company>NIEHS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ToxPipe API Guide</dc:title>
  <dc:creator>Combs, Parker (NIH/NIEHS) [C]</dc:creator>
  <cp:lastModifiedBy>Combs, Parker (NIH/NIEHS) [C]</cp:lastModifiedBy>
  <cp:revision>94</cp:revision>
  <dcterms:created xsi:type="dcterms:W3CDTF">2024-12-04T15:24:51Z</dcterms:created>
  <dcterms:modified xsi:type="dcterms:W3CDTF">2024-12-12T16:42:34Z</dcterms:modified>
</cp:coreProperties>
</file>