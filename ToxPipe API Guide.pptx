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3" autoAdjust="0"/>
    <p:restoredTop sz="94660"/>
  </p:normalViewPr>
  <p:slideViewPr>
    <p:cSldViewPr snapToGrid="0">
      <p:cViewPr varScale="1">
        <p:scale>
          <a:sx n="158" d="100"/>
          <a:sy n="158" d="100"/>
        </p:scale>
        <p:origin x="19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12/5/2024</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5,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2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If an agent exceeds this number of steps, it will return with an error.</a:t>
            </a:r>
          </a:p>
          <a:p>
            <a:pPr lvl="2">
              <a:tabLst>
                <a:tab pos="5257800" algn="l"/>
              </a:tabLst>
            </a:pPr>
            <a:r>
              <a:rPr lang="en-US" sz="1400" b="1" dirty="0" err="1">
                <a:latin typeface="Consolas" panose="020B0609020204030204" pitchFamily="49" charset="0"/>
              </a:rPr>
              <a:t>step_timeout</a:t>
            </a:r>
            <a:r>
              <a:rPr lang="en-US" sz="1400" dirty="0"/>
              <a:t> – The maximum time in seconds that an agent may spend on a single step. If an agent exceeds this time, it will return with an error.</a:t>
            </a:r>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44195" y="1615014"/>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96067" y="5309172"/>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119437"/>
          </a:xfrm>
        </p:spPr>
        <p:txBody>
          <a:bodyPr>
            <a:noAutofit/>
          </a:bodyPr>
          <a:lstStyle/>
          <a:p>
            <a:pPr marL="0" indent="0">
              <a:lnSpc>
                <a:spcPct val="100000"/>
              </a:lnSpc>
              <a:spcBef>
                <a:spcPts val="0"/>
              </a:spcBef>
              <a:buNone/>
            </a:pPr>
            <a:r>
              <a:rPr lang="en-US" sz="1200" b="1" dirty="0">
                <a:solidFill>
                  <a:srgbClr val="FF0000"/>
                </a:solidFill>
                <a:effectLst/>
              </a:rPr>
              <a:t>Red</a:t>
            </a:r>
            <a:r>
              <a:rPr lang="en-US" sz="1200" b="1" dirty="0">
                <a:effectLst/>
              </a:rPr>
              <a:t> </a:t>
            </a:r>
            <a:r>
              <a:rPr lang="en-US" sz="1200" dirty="0">
                <a:effectLst/>
              </a:rPr>
              <a:t>= recommended, tested with tools</a:t>
            </a: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0" dirty="0">
                <a:effectLst/>
                <a:latin typeface="Consolas" panose="020B0609020204030204" pitchFamily="49" charset="0"/>
              </a:rPr>
              <a:t>claude-3-5-sonnet</a:t>
            </a:r>
          </a:p>
          <a:p>
            <a:pPr lvl="1">
              <a:lnSpc>
                <a:spcPct val="100000"/>
              </a:lnSpc>
              <a:spcBef>
                <a:spcPts val="0"/>
              </a:spcBef>
            </a:pPr>
            <a:r>
              <a:rPr lang="en-US" sz="1200" b="0" dirty="0">
                <a:effectLst/>
                <a:latin typeface="Consolas" panose="020B0609020204030204" pitchFamily="49" charset="0"/>
              </a:rPr>
              <a:t>claude-3-sonnet</a:t>
            </a:r>
          </a:p>
          <a:p>
            <a:pPr lvl="1">
              <a:lnSpc>
                <a:spcPct val="100000"/>
              </a:lnSpc>
              <a:spcBef>
                <a:spcPts val="0"/>
              </a:spcBef>
            </a:pPr>
            <a:r>
              <a:rPr lang="en-US" sz="1200" b="0" dirty="0">
                <a:solidFill>
                  <a:srgbClr val="FF0000"/>
                </a:solidFill>
                <a:effectLst/>
                <a:latin typeface="Consolas" panose="020B0609020204030204" pitchFamily="49" charset="0"/>
              </a:rPr>
              <a:t>claude-3-haiku</a:t>
            </a:r>
          </a:p>
          <a:p>
            <a:pPr lvl="1">
              <a:lnSpc>
                <a:spcPct val="100000"/>
              </a:lnSpc>
              <a:spcBef>
                <a:spcPts val="0"/>
              </a:spcBef>
            </a:pPr>
            <a:r>
              <a:rPr lang="en-US" sz="1200" b="0" dirty="0">
                <a:solidFill>
                  <a:srgbClr val="FF0000"/>
                </a:solidFill>
                <a:effectLst/>
                <a:latin typeface="Consolas" panose="020B0609020204030204" pitchFamily="49" charset="0"/>
              </a:rPr>
              <a:t>claude-3-opus</a:t>
            </a:r>
          </a:p>
          <a:p>
            <a:pPr>
              <a:lnSpc>
                <a:spcPct val="100000"/>
              </a:lnSpc>
              <a:spcBef>
                <a:spcPts val="0"/>
              </a:spcBef>
            </a:pPr>
            <a:r>
              <a:rPr lang="en-US" sz="1200" b="1" dirty="0">
                <a:effectLst/>
              </a:rPr>
              <a:t>Meta</a:t>
            </a:r>
            <a:r>
              <a:rPr lang="en-US" sz="1200" b="0" dirty="0">
                <a:effectLst/>
              </a:rPr>
              <a:t> (not fully supported – doesn’t work with tools)</a:t>
            </a:r>
            <a:endParaRPr lang="en-US" sz="1200" dirty="0"/>
          </a:p>
          <a:p>
            <a:pPr lvl="1">
              <a:lnSpc>
                <a:spcPct val="100000"/>
              </a:lnSpc>
              <a:spcBef>
                <a:spcPts val="0"/>
              </a:spcBef>
            </a:pPr>
            <a:r>
              <a:rPr lang="en-US" sz="1200" b="0" dirty="0">
                <a:effectLst/>
                <a:latin typeface="Consolas" panose="020B0609020204030204" pitchFamily="49" charset="0"/>
              </a:rPr>
              <a:t>llama3-1-70b</a:t>
            </a:r>
          </a:p>
          <a:p>
            <a:pPr lvl="1">
              <a:lnSpc>
                <a:spcPct val="100000"/>
              </a:lnSpc>
              <a:spcBef>
                <a:spcPts val="0"/>
              </a:spcBef>
            </a:pPr>
            <a:r>
              <a:rPr lang="en-US" sz="1200" b="0" dirty="0">
                <a:effectLst/>
                <a:latin typeface="Consolas" panose="020B0609020204030204" pitchFamily="49" charset="0"/>
              </a:rPr>
              <a:t>llama3-1-8b</a:t>
            </a:r>
          </a:p>
          <a:p>
            <a:pPr lvl="1">
              <a:lnSpc>
                <a:spcPct val="100000"/>
              </a:lnSpc>
              <a:spcBef>
                <a:spcPts val="0"/>
              </a:spcBef>
            </a:pPr>
            <a:r>
              <a:rPr lang="en-US" sz="1200" b="0" dirty="0">
                <a:effectLst/>
                <a:latin typeface="Consolas" panose="020B0609020204030204" pitchFamily="49" charset="0"/>
              </a:rPr>
              <a:t>openbiollm-llama3-70b</a:t>
            </a:r>
          </a:p>
          <a:p>
            <a:pPr lvl="1">
              <a:lnSpc>
                <a:spcPct val="100000"/>
              </a:lnSpc>
              <a:spcBef>
                <a:spcPts val="0"/>
              </a:spcBef>
            </a:pPr>
            <a:r>
              <a:rPr lang="en-US" sz="1200" b="0" dirty="0">
                <a:effectLst/>
                <a:latin typeface="Consolas" panose="020B0609020204030204" pitchFamily="49" charset="0"/>
              </a:rPr>
              <a:t>llama2-13b</a:t>
            </a:r>
          </a:p>
          <a:p>
            <a:pPr>
              <a:lnSpc>
                <a:spcPct val="100000"/>
              </a:lnSpc>
              <a:spcBef>
                <a:spcPts val="0"/>
              </a:spcBef>
            </a:pPr>
            <a:r>
              <a:rPr lang="en-US" sz="1200" b="1" dirty="0">
                <a:effectLst/>
              </a:rPr>
              <a:t>Azure OpenAI </a:t>
            </a:r>
            <a:r>
              <a:rPr lang="en-US" sz="1200" b="0" dirty="0">
                <a:effectLst/>
              </a:rPr>
              <a:t>(recommended)</a:t>
            </a:r>
          </a:p>
          <a:p>
            <a:pPr lvl="1">
              <a:lnSpc>
                <a:spcPct val="100000"/>
              </a:lnSpc>
              <a:spcBef>
                <a:spcPts val="0"/>
              </a:spcBef>
            </a:pPr>
            <a:r>
              <a:rPr lang="en-US" sz="1200" b="0" dirty="0">
                <a:solidFill>
                  <a:srgbClr val="FF0000"/>
                </a:solidFill>
                <a:effectLst/>
                <a:latin typeface="Consolas" panose="020B0609020204030204" pitchFamily="49" charset="0"/>
              </a:rPr>
              <a:t>azure-gpt-4o</a:t>
            </a:r>
          </a:p>
          <a:p>
            <a:pPr lvl="1">
              <a:lnSpc>
                <a:spcPct val="100000"/>
              </a:lnSpc>
              <a:spcBef>
                <a:spcPts val="0"/>
              </a:spcBef>
            </a:pPr>
            <a:r>
              <a:rPr lang="en-US" sz="1200" b="0" dirty="0">
                <a:solidFill>
                  <a:srgbClr val="FF0000"/>
                </a:solidFill>
                <a:effectLst/>
                <a:latin typeface="Consolas" panose="020B0609020204030204" pitchFamily="49" charset="0"/>
              </a:rPr>
              <a:t>azure-gpt-3.5-turbo</a:t>
            </a:r>
          </a:p>
          <a:p>
            <a:pPr lvl="1">
              <a:lnSpc>
                <a:spcPct val="100000"/>
              </a:lnSpc>
              <a:spcBef>
                <a:spcPts val="0"/>
              </a:spcBef>
            </a:pPr>
            <a:r>
              <a:rPr lang="en-US" sz="1200" b="0" dirty="0">
                <a:solidFill>
                  <a:srgbClr val="FF0000"/>
                </a:solidFill>
                <a:effectLst/>
                <a:latin typeface="Consolas" panose="020B0609020204030204" pitchFamily="49" charset="0"/>
              </a:rPr>
              <a:t>azure-gpt-4o-mini</a:t>
            </a:r>
          </a:p>
          <a:p>
            <a:pPr lvl="1">
              <a:lnSpc>
                <a:spcPct val="100000"/>
              </a:lnSpc>
              <a:spcBef>
                <a:spcPts val="0"/>
              </a:spcBef>
            </a:pPr>
            <a:r>
              <a:rPr lang="en-US" sz="1200" b="0" dirty="0">
                <a:solidFill>
                  <a:srgbClr val="FF0000"/>
                </a:solidFill>
                <a:effectLst/>
                <a:latin typeface="Consolas" panose="020B0609020204030204" pitchFamily="49" charset="0"/>
              </a:rPr>
              <a:t>azure-gpt-3.5-turbo-16k</a:t>
            </a:r>
          </a:p>
          <a:p>
            <a:pPr lvl="1">
              <a:lnSpc>
                <a:spcPct val="100000"/>
              </a:lnSpc>
              <a:spcBef>
                <a:spcPts val="0"/>
              </a:spcBef>
            </a:pPr>
            <a:r>
              <a:rPr lang="en-US" sz="1200" b="0" dirty="0">
                <a:solidFill>
                  <a:srgbClr val="FF0000"/>
                </a:solidFill>
                <a:effectLst/>
                <a:latin typeface="Consolas" panose="020B0609020204030204" pitchFamily="49" charset="0"/>
              </a:rPr>
              <a:t>azure-gpt-4-turbo-20240409</a:t>
            </a:r>
          </a:p>
          <a:p>
            <a:pPr lvl="1">
              <a:lnSpc>
                <a:spcPct val="100000"/>
              </a:lnSpc>
              <a:spcBef>
                <a:spcPts val="0"/>
              </a:spcBef>
            </a:pPr>
            <a:r>
              <a:rPr lang="en-US" sz="1200" b="0" dirty="0">
                <a:solidFill>
                  <a:srgbClr val="FF0000"/>
                </a:solidFill>
                <a:effectLst/>
                <a:latin typeface="Consolas" panose="020B0609020204030204" pitchFamily="49" charset="0"/>
              </a:rPr>
              <a:t>azure-gpt-4</a:t>
            </a:r>
          </a:p>
          <a:p>
            <a:pPr>
              <a:lnSpc>
                <a:spcPct val="100000"/>
              </a:lnSpc>
              <a:spcBef>
                <a:spcPts val="0"/>
              </a:spcBef>
            </a:pPr>
            <a:r>
              <a:rPr lang="en-US" sz="1200" b="1" dirty="0" err="1">
                <a:effectLst/>
              </a:rPr>
              <a:t>MistralAI</a:t>
            </a:r>
            <a:endParaRPr lang="en-US" sz="1200" b="1" dirty="0">
              <a:effectLst/>
            </a:endParaRPr>
          </a:p>
          <a:p>
            <a:pPr lvl="1">
              <a:lnSpc>
                <a:spcPct val="100000"/>
              </a:lnSpc>
              <a:spcBef>
                <a:spcPts val="0"/>
              </a:spcBef>
            </a:pPr>
            <a:r>
              <a:rPr lang="en-US" sz="1200" b="0" dirty="0">
                <a:effectLst/>
                <a:latin typeface="Consolas" panose="020B0609020204030204" pitchFamily="49" charset="0"/>
              </a:rPr>
              <a:t>mistral-large-2</a:t>
            </a:r>
          </a:p>
          <a:p>
            <a:pPr lvl="1">
              <a:lnSpc>
                <a:spcPct val="100000"/>
              </a:lnSpc>
              <a:spcBef>
                <a:spcPts val="0"/>
              </a:spcBef>
            </a:pPr>
            <a:r>
              <a:rPr lang="en-US" sz="1200" b="0" dirty="0">
                <a:solidFill>
                  <a:srgbClr val="FF0000"/>
                </a:solidFill>
                <a:effectLst/>
                <a:latin typeface="Consolas" panose="020B0609020204030204" pitchFamily="49" charset="0"/>
              </a:rPr>
              <a:t>mistral-large</a:t>
            </a:r>
          </a:p>
          <a:p>
            <a:pPr lvl="1">
              <a:lnSpc>
                <a:spcPct val="100000"/>
              </a:lnSpc>
              <a:spcBef>
                <a:spcPts val="0"/>
              </a:spcBef>
            </a:pPr>
            <a:r>
              <a:rPr lang="en-US" sz="1200" b="0" dirty="0">
                <a:solidFill>
                  <a:srgbClr val="FF0000"/>
                </a:solidFill>
                <a:effectLst/>
                <a:latin typeface="Consolas" panose="020B0609020204030204" pitchFamily="49" charset="0"/>
              </a:rPr>
              <a:t>mistral-7b-instruct</a:t>
            </a:r>
          </a:p>
          <a:p>
            <a:pPr lvl="1">
              <a:lnSpc>
                <a:spcPct val="100000"/>
              </a:lnSpc>
              <a:spcBef>
                <a:spcPts val="0"/>
              </a:spcBef>
            </a:pPr>
            <a:r>
              <a:rPr lang="en-US" sz="1200" b="0" dirty="0">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0" dirty="0">
                <a:solidFill>
                  <a:srgbClr val="FF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0" dirty="0">
                <a:effectLst/>
                <a:latin typeface="Consolas" panose="020B0609020204030204" pitchFamily="49" charset="0"/>
              </a:rPr>
              <a:t>cohere-command-r-plus</a:t>
            </a: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FE4BD-01EC-0428-C393-C237703813AD}"/>
              </a:ext>
            </a:extLst>
          </p:cNvPr>
          <p:cNvPicPr>
            <a:picLocks noChangeAspect="1"/>
          </p:cNvPicPr>
          <p:nvPr/>
        </p:nvPicPr>
        <p:blipFill>
          <a:blip r:embed="rId2"/>
          <a:stretch>
            <a:fillRect/>
          </a:stretch>
        </p:blipFill>
        <p:spPr>
          <a:xfrm>
            <a:off x="1672389" y="1221397"/>
            <a:ext cx="9603205" cy="4743422"/>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6004884" y="5521998"/>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3D274A9-B7EB-1924-456F-86278299995C}"/>
              </a:ext>
            </a:extLst>
          </p:cNvPr>
          <p:cNvPicPr>
            <a:picLocks noChangeAspect="1"/>
          </p:cNvPicPr>
          <p:nvPr/>
        </p:nvPicPr>
        <p:blipFill>
          <a:blip r:embed="rId2"/>
          <a:stretch>
            <a:fillRect/>
          </a:stretch>
        </p:blipFill>
        <p:spPr>
          <a:xfrm>
            <a:off x="3015703" y="3708639"/>
            <a:ext cx="8453658" cy="2440720"/>
          </a:xfrm>
          <a:prstGeom prst="rect">
            <a:avLst/>
          </a:prstGeom>
        </p:spPr>
      </p:pic>
      <p:pic>
        <p:nvPicPr>
          <p:cNvPr id="8" name="Picture 7">
            <a:extLst>
              <a:ext uri="{FF2B5EF4-FFF2-40B4-BE49-F238E27FC236}">
                <a16:creationId xmlns:a16="http://schemas.microsoft.com/office/drawing/2014/main" id="{DDE5CE38-FE74-234F-B4A0-A000680BF8C8}"/>
              </a:ext>
            </a:extLst>
          </p:cNvPr>
          <p:cNvPicPr>
            <a:picLocks noChangeAspect="1"/>
          </p:cNvPicPr>
          <p:nvPr/>
        </p:nvPicPr>
        <p:blipFill>
          <a:blip r:embed="rId3"/>
          <a:stretch>
            <a:fillRect/>
          </a:stretch>
        </p:blipFill>
        <p:spPr>
          <a:xfrm>
            <a:off x="0" y="1333986"/>
            <a:ext cx="8808448" cy="2178297"/>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TotalTime>
  <Words>850</Words>
  <Application>Microsoft Office PowerPoint</Application>
  <PresentationFormat>Widescreen</PresentationFormat>
  <Paragraphs>76</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90</cp:revision>
  <dcterms:created xsi:type="dcterms:W3CDTF">2024-12-04T15:24:51Z</dcterms:created>
  <dcterms:modified xsi:type="dcterms:W3CDTF">2024-12-05T17:29:39Z</dcterms:modified>
</cp:coreProperties>
</file>