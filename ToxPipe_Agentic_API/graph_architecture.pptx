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31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67680-660C-F521-E705-726BD8E17C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042059-A657-3164-FF2B-D2AB351239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555D9-7451-66FA-67C5-CADCD49D3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59F3-DB80-4E75-82CE-949E02E89EB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AA1D7-DE1E-563A-F849-8E96A9FC7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18DF1-6D66-9649-9ACE-7897F801A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55D7-3871-4EA6-9082-083F401CC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19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E1EDD-1999-9B94-6BC4-FE43C0E97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1BE8B-7101-9895-398A-539514C7E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B80FA-20C1-ED57-24B1-06A5504B9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59F3-DB80-4E75-82CE-949E02E89EB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C17EB-CA43-F0E3-C5AA-8AE6B7D3F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D856D-3B9C-BEE5-306F-DB939A02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55D7-3871-4EA6-9082-083F401CC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926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6871D-5530-A979-779A-6EF0F78E7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049E9-02A4-CE08-B187-2ADC35A56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E9E75-CD8F-AA3F-480E-8EDE48951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59F3-DB80-4E75-82CE-949E02E89EB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34EB6-A194-1593-3163-939C1A468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7E340-A023-B17F-0B50-EF81A045F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55D7-3871-4EA6-9082-083F401CC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422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1D838-93DA-1B2A-606C-8CFBACBC7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C1F44-17D7-2CBE-2892-CD63E0AAB1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40F7A7-33A2-D952-4CE5-F9D54DD6CC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7312C6-99EB-1952-7715-55799E720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59F3-DB80-4E75-82CE-949E02E89EB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04300-0244-D455-0A4B-17EBC3387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C2B56-42FD-C89B-A6D2-06C377256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55D7-3871-4EA6-9082-083F401CC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871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357AD-04ED-D0FD-A07F-50BCC5E9B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A2BE4-A65B-0F12-4D24-CB7D9C43C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0B790-F373-226D-7A56-5A65ECC6D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9C9CF-E0AA-8C51-5D21-95BCB41F73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35934C-61C7-5236-99BB-F090985F90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DBD9A-2A8A-B675-BE94-FAF8D205F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59F3-DB80-4E75-82CE-949E02E89EB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DCBA7E-7A6B-F554-A56D-2BF0B50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9E14DF-66C3-5B09-225D-BC919ECF6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55D7-3871-4EA6-9082-083F401CC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95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FED7-FC3A-0D46-96C1-714F44A28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00A458-2D75-079A-8553-8201C703A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59F3-DB80-4E75-82CE-949E02E89EB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1F8732-25E5-F085-3E85-91D96892D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3D9D53-3719-9E81-4509-3A222BE28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55D7-3871-4EA6-9082-083F401CC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13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9288FB-28B4-E415-7CB0-218974031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59F3-DB80-4E75-82CE-949E02E89EB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3B2506-E75A-C085-4CE0-A5FFC33E7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E11DB-21BA-849B-2F32-1F36080D1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55D7-3871-4EA6-9082-083F401CC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15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F8428-CA39-56B8-3426-C8BD73E35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5BD78-7ADD-DB28-8981-131AC0720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EF5BC0-9D37-357E-AB38-FA622A993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C76D8-2571-BCC8-692C-95F4E260D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59F3-DB80-4E75-82CE-949E02E89EB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79451-9680-7CC0-1E17-A99F6384D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0B89D-C255-0474-F78E-9845B3FA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55D7-3871-4EA6-9082-083F401CC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85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45FE3-7111-3BD3-CFA9-DAFF9EF3B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300244-A385-C439-ECBF-0999F15611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132A9-89AB-D3AF-CD06-9D92061A9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7C27B-11EE-F39D-E602-847758023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59F3-DB80-4E75-82CE-949E02E89EB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F890C6-6C79-4219-2097-801C3AE00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1B78C-874C-8149-D578-97AB51C28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55D7-3871-4EA6-9082-083F401CC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58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42043-0981-4E34-E5BB-ADEC8569E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51F643-1069-5AC9-46D4-C7AE9A78F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EFAD4-2123-2E73-3793-AA942B494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59F3-DB80-4E75-82CE-949E02E89EB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965E8-9012-8773-68E8-9C1F219FE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C52E4-F04D-C5EC-B96B-5DAEBB363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55D7-3871-4EA6-9082-083F401CC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806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021AE5-A453-CEA1-8F76-511AAB367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9C32A9-8D39-CDC1-ABE7-B9BF39EF4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39CBC-BBD7-1F22-855F-82694EA44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659F3-DB80-4E75-82CE-949E02E89EB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ED5A7-419A-04CF-2B8C-5703E550F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495BA-EE1E-FC9F-38CB-4324373F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255D7-3871-4EA6-9082-083F401CC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831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94CC54-D465-A431-B9B9-0B8FAA8C4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39D96-F139-30BE-635E-415C033F0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A98E6-C51F-6D95-2CAB-FF6E1580AA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8659F3-DB80-4E75-82CE-949E02E89EB1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04640-5A7B-9514-8156-94E0DAF3B4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A0194-14C2-F675-5EFF-7279921A1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D255D7-3871-4EA6-9082-083F401CC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486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8810A183-08CF-A2CF-5938-92BCC7F2271C}"/>
              </a:ext>
            </a:extLst>
          </p:cNvPr>
          <p:cNvSpPr/>
          <p:nvPr/>
        </p:nvSpPr>
        <p:spPr>
          <a:xfrm>
            <a:off x="9027611" y="3251662"/>
            <a:ext cx="2404524" cy="22163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Arrow: Right 99">
            <a:extLst>
              <a:ext uri="{FF2B5EF4-FFF2-40B4-BE49-F238E27FC236}">
                <a16:creationId xmlns:a16="http://schemas.microsoft.com/office/drawing/2014/main" id="{4EB05B44-AC19-D2BB-4591-201627E56FF1}"/>
              </a:ext>
            </a:extLst>
          </p:cNvPr>
          <p:cNvSpPr/>
          <p:nvPr/>
        </p:nvSpPr>
        <p:spPr>
          <a:xfrm>
            <a:off x="8413176" y="4076270"/>
            <a:ext cx="694418" cy="532596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Arrow: Right 98">
            <a:extLst>
              <a:ext uri="{FF2B5EF4-FFF2-40B4-BE49-F238E27FC236}">
                <a16:creationId xmlns:a16="http://schemas.microsoft.com/office/drawing/2014/main" id="{383D9C5E-7E0A-987D-3814-17A844B4890A}"/>
              </a:ext>
            </a:extLst>
          </p:cNvPr>
          <p:cNvSpPr/>
          <p:nvPr/>
        </p:nvSpPr>
        <p:spPr>
          <a:xfrm rot="19905919">
            <a:off x="8573559" y="5087677"/>
            <a:ext cx="694418" cy="532596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Arrow: Right 96">
            <a:extLst>
              <a:ext uri="{FF2B5EF4-FFF2-40B4-BE49-F238E27FC236}">
                <a16:creationId xmlns:a16="http://schemas.microsoft.com/office/drawing/2014/main" id="{11F2193F-AD78-F694-7B4C-858BBD742C10}"/>
              </a:ext>
            </a:extLst>
          </p:cNvPr>
          <p:cNvSpPr/>
          <p:nvPr/>
        </p:nvSpPr>
        <p:spPr>
          <a:xfrm rot="2093903">
            <a:off x="8612482" y="3138313"/>
            <a:ext cx="694418" cy="532596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CC6662B-D813-B0B1-31E2-E8D00A922B59}"/>
              </a:ext>
            </a:extLst>
          </p:cNvPr>
          <p:cNvSpPr/>
          <p:nvPr/>
        </p:nvSpPr>
        <p:spPr>
          <a:xfrm>
            <a:off x="4577789" y="4923469"/>
            <a:ext cx="4187681" cy="11108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ACC67BA-361E-1EDB-E313-BE67FD809672}"/>
              </a:ext>
            </a:extLst>
          </p:cNvPr>
          <p:cNvSpPr/>
          <p:nvPr/>
        </p:nvSpPr>
        <p:spPr>
          <a:xfrm>
            <a:off x="4584224" y="3804651"/>
            <a:ext cx="4187681" cy="10426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9933495-8A6B-6B60-5EAE-4D3209A73653}"/>
              </a:ext>
            </a:extLst>
          </p:cNvPr>
          <p:cNvSpPr/>
          <p:nvPr/>
        </p:nvSpPr>
        <p:spPr>
          <a:xfrm>
            <a:off x="4584224" y="2306836"/>
            <a:ext cx="4187681" cy="14448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0A5188E-C62B-7EB4-841F-F64B3F82C19F}"/>
              </a:ext>
            </a:extLst>
          </p:cNvPr>
          <p:cNvSpPr/>
          <p:nvPr/>
        </p:nvSpPr>
        <p:spPr>
          <a:xfrm>
            <a:off x="1428750" y="3251662"/>
            <a:ext cx="2993741" cy="22163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79A390D-1B3D-5524-CF71-4E824DE500BE}"/>
              </a:ext>
            </a:extLst>
          </p:cNvPr>
          <p:cNvSpPr/>
          <p:nvPr/>
        </p:nvSpPr>
        <p:spPr>
          <a:xfrm>
            <a:off x="1593486" y="3823526"/>
            <a:ext cx="1266994" cy="10339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Initial</a:t>
            </a:r>
          </a:p>
          <a:p>
            <a:pPr algn="ctr"/>
            <a:r>
              <a:rPr lang="en-US" dirty="0"/>
              <a:t>stage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75A42E6-5B41-9787-CD30-C8D94182221D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1371332" y="4340500"/>
            <a:ext cx="2221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2FEF92B-AB9E-8820-A915-5E7AD3836D12}"/>
              </a:ext>
            </a:extLst>
          </p:cNvPr>
          <p:cNvSpPr/>
          <p:nvPr/>
        </p:nvSpPr>
        <p:spPr>
          <a:xfrm>
            <a:off x="4650252" y="2690296"/>
            <a:ext cx="1266994" cy="1033947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Standardize input from chemical or disease name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F6F0C98-2F3B-0101-12C9-B3667677416D}"/>
              </a:ext>
            </a:extLst>
          </p:cNvPr>
          <p:cNvSpPr/>
          <p:nvPr/>
        </p:nvSpPr>
        <p:spPr>
          <a:xfrm>
            <a:off x="4665210" y="3808380"/>
            <a:ext cx="1266994" cy="103394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RAG search from NTP docs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6275055-E5E0-E1B8-6358-0A2E618BA3C2}"/>
              </a:ext>
            </a:extLst>
          </p:cNvPr>
          <p:cNvSpPr/>
          <p:nvPr/>
        </p:nvSpPr>
        <p:spPr>
          <a:xfrm>
            <a:off x="4650252" y="4951062"/>
            <a:ext cx="1266994" cy="1033947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Literature search from PubMed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3A97AC1-FE0A-9469-ACFF-B7234CA55F03}"/>
              </a:ext>
            </a:extLst>
          </p:cNvPr>
          <p:cNvSpPr/>
          <p:nvPr/>
        </p:nvSpPr>
        <p:spPr>
          <a:xfrm>
            <a:off x="9135071" y="3835973"/>
            <a:ext cx="1266994" cy="10339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Add training data + summarize context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1B85D4C-B43E-04E2-6A5D-04A81657C67D}"/>
              </a:ext>
            </a:extLst>
          </p:cNvPr>
          <p:cNvSpPr/>
          <p:nvPr/>
        </p:nvSpPr>
        <p:spPr>
          <a:xfrm>
            <a:off x="6085901" y="2690296"/>
            <a:ext cx="1266994" cy="1033947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Tool</a:t>
            </a:r>
          </a:p>
          <a:p>
            <a:pPr algn="ctr"/>
            <a:r>
              <a:rPr lang="en-US" sz="1050" dirty="0"/>
              <a:t>deliberation stage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62886BB-901F-8A08-1155-678B0758763B}"/>
              </a:ext>
            </a:extLst>
          </p:cNvPr>
          <p:cNvCxnSpPr>
            <a:cxnSpLocks/>
            <a:stCxn id="13" idx="6"/>
            <a:endCxn id="44" idx="2"/>
          </p:cNvCxnSpPr>
          <p:nvPr/>
        </p:nvCxnSpPr>
        <p:spPr>
          <a:xfrm>
            <a:off x="5917246" y="3207270"/>
            <a:ext cx="1686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D110DB-9B30-3827-6094-B7ADA210A3AA}"/>
              </a:ext>
            </a:extLst>
          </p:cNvPr>
          <p:cNvSpPr/>
          <p:nvPr/>
        </p:nvSpPr>
        <p:spPr>
          <a:xfrm>
            <a:off x="7641505" y="2698673"/>
            <a:ext cx="782206" cy="21088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Tool call 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B029D12-ED00-98A0-D117-D74A0658E6BD}"/>
              </a:ext>
            </a:extLst>
          </p:cNvPr>
          <p:cNvSpPr/>
          <p:nvPr/>
        </p:nvSpPr>
        <p:spPr>
          <a:xfrm>
            <a:off x="7641505" y="2969398"/>
            <a:ext cx="782206" cy="210882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Tool call 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D86D933-D9DB-2F75-4DB4-F9A0259CC04E}"/>
              </a:ext>
            </a:extLst>
          </p:cNvPr>
          <p:cNvSpPr/>
          <p:nvPr/>
        </p:nvSpPr>
        <p:spPr>
          <a:xfrm>
            <a:off x="7633878" y="3251662"/>
            <a:ext cx="782206" cy="210882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…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D4EB21C-6DFA-A8F1-C39A-3C2940D1BBF2}"/>
              </a:ext>
            </a:extLst>
          </p:cNvPr>
          <p:cNvSpPr/>
          <p:nvPr/>
        </p:nvSpPr>
        <p:spPr>
          <a:xfrm>
            <a:off x="7633878" y="3509431"/>
            <a:ext cx="782206" cy="210882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Tool call </a:t>
            </a:r>
            <a:r>
              <a:rPr lang="en-US" sz="1000" i="1" dirty="0"/>
              <a:t>N</a:t>
            </a:r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EF59F8EB-0C00-A291-4B37-D692C09035DF}"/>
              </a:ext>
            </a:extLst>
          </p:cNvPr>
          <p:cNvSpPr/>
          <p:nvPr/>
        </p:nvSpPr>
        <p:spPr>
          <a:xfrm>
            <a:off x="8450031" y="2706844"/>
            <a:ext cx="253954" cy="10323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Left Brace 37">
            <a:extLst>
              <a:ext uri="{FF2B5EF4-FFF2-40B4-BE49-F238E27FC236}">
                <a16:creationId xmlns:a16="http://schemas.microsoft.com/office/drawing/2014/main" id="{2EDC7610-95D6-24DC-ACD0-83AC6EC7A69F}"/>
              </a:ext>
            </a:extLst>
          </p:cNvPr>
          <p:cNvSpPr/>
          <p:nvPr/>
        </p:nvSpPr>
        <p:spPr>
          <a:xfrm>
            <a:off x="7406896" y="2687593"/>
            <a:ext cx="200662" cy="103257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50E409-A083-366C-3154-FC9FB413868D}"/>
              </a:ext>
            </a:extLst>
          </p:cNvPr>
          <p:cNvSpPr txBox="1"/>
          <p:nvPr/>
        </p:nvSpPr>
        <p:spPr>
          <a:xfrm>
            <a:off x="620600" y="4155833"/>
            <a:ext cx="883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START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F0E4DEB-0A24-4349-DBAB-684FDEF9AF2E}"/>
              </a:ext>
            </a:extLst>
          </p:cNvPr>
          <p:cNvSpPr/>
          <p:nvPr/>
        </p:nvSpPr>
        <p:spPr>
          <a:xfrm>
            <a:off x="3058854" y="3827663"/>
            <a:ext cx="1266994" cy="10339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Figure out if answer is in memory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A02405A-349B-B07C-390B-8C7507CEB90D}"/>
              </a:ext>
            </a:extLst>
          </p:cNvPr>
          <p:cNvCxnSpPr>
            <a:cxnSpLocks/>
            <a:stCxn id="4" idx="6"/>
            <a:endCxn id="32" idx="2"/>
          </p:cNvCxnSpPr>
          <p:nvPr/>
        </p:nvCxnSpPr>
        <p:spPr>
          <a:xfrm>
            <a:off x="2860480" y="4340500"/>
            <a:ext cx="198374" cy="4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Left Brace 36">
            <a:extLst>
              <a:ext uri="{FF2B5EF4-FFF2-40B4-BE49-F238E27FC236}">
                <a16:creationId xmlns:a16="http://schemas.microsoft.com/office/drawing/2014/main" id="{BE365F12-A5CA-9763-0559-8917C3D2E0DC}"/>
              </a:ext>
            </a:extLst>
          </p:cNvPr>
          <p:cNvSpPr/>
          <p:nvPr/>
        </p:nvSpPr>
        <p:spPr>
          <a:xfrm>
            <a:off x="4373415" y="3182672"/>
            <a:ext cx="200662" cy="228536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E44270FD-DD59-062B-A155-D3E1DAD894A6}"/>
              </a:ext>
            </a:extLst>
          </p:cNvPr>
          <p:cNvSpPr/>
          <p:nvPr/>
        </p:nvSpPr>
        <p:spPr>
          <a:xfrm>
            <a:off x="8771905" y="3234926"/>
            <a:ext cx="348208" cy="223604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283D82E-621D-7A31-0D77-D12F19B3BAF2}"/>
              </a:ext>
            </a:extLst>
          </p:cNvPr>
          <p:cNvCxnSpPr>
            <a:cxnSpLocks/>
          </p:cNvCxnSpPr>
          <p:nvPr/>
        </p:nvCxnSpPr>
        <p:spPr>
          <a:xfrm>
            <a:off x="10416767" y="4352946"/>
            <a:ext cx="198374" cy="4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7D64DE95-5A88-A41D-EBBD-6E3DC63E93CD}"/>
              </a:ext>
            </a:extLst>
          </p:cNvPr>
          <p:cNvSpPr txBox="1"/>
          <p:nvPr/>
        </p:nvSpPr>
        <p:spPr>
          <a:xfrm>
            <a:off x="10560506" y="4168280"/>
            <a:ext cx="883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END</a:t>
            </a: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232317E0-B206-4500-5C8B-F98F5D0672F4}"/>
              </a:ext>
            </a:extLst>
          </p:cNvPr>
          <p:cNvCxnSpPr>
            <a:stCxn id="32" idx="4"/>
            <a:endCxn id="31" idx="4"/>
          </p:cNvCxnSpPr>
          <p:nvPr/>
        </p:nvCxnSpPr>
        <p:spPr>
          <a:xfrm rot="16200000" flipH="1">
            <a:off x="6726304" y="1827656"/>
            <a:ext cx="8310" cy="6076217"/>
          </a:xfrm>
          <a:prstGeom prst="bentConnector3">
            <a:avLst>
              <a:gd name="adj1" fmla="val 1729316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96987F0-A4BD-6F41-3B27-87DD60881093}"/>
              </a:ext>
            </a:extLst>
          </p:cNvPr>
          <p:cNvSpPr txBox="1"/>
          <p:nvPr/>
        </p:nvSpPr>
        <p:spPr>
          <a:xfrm>
            <a:off x="3639435" y="6269092"/>
            <a:ext cx="618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If answer to the query exists in the agent’s memory (context)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340FB42-602A-C0B5-EE01-EE326E36EF3D}"/>
              </a:ext>
            </a:extLst>
          </p:cNvPr>
          <p:cNvSpPr txBox="1"/>
          <p:nvPr/>
        </p:nvSpPr>
        <p:spPr>
          <a:xfrm>
            <a:off x="3406618" y="2518319"/>
            <a:ext cx="13726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If answer to the query is not in the agent’s memory (context)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5271328-338F-0AC2-4021-CA66B4F3344B}"/>
              </a:ext>
            </a:extLst>
          </p:cNvPr>
          <p:cNvCxnSpPr>
            <a:cxnSpLocks/>
            <a:stCxn id="63" idx="2"/>
            <a:endCxn id="37" idx="1"/>
          </p:cNvCxnSpPr>
          <p:nvPr/>
        </p:nvCxnSpPr>
        <p:spPr>
          <a:xfrm>
            <a:off x="4092919" y="3349316"/>
            <a:ext cx="280496" cy="97603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8C0F256-ABEE-75DF-ED65-03935AAB0D26}"/>
              </a:ext>
            </a:extLst>
          </p:cNvPr>
          <p:cNvCxnSpPr>
            <a:cxnSpLocks/>
            <a:stCxn id="24" idx="6"/>
          </p:cNvCxnSpPr>
          <p:nvPr/>
        </p:nvCxnSpPr>
        <p:spPr>
          <a:xfrm flipV="1">
            <a:off x="5932204" y="4321216"/>
            <a:ext cx="2824446" cy="4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9127672-DD39-6F17-4752-D3C35D214616}"/>
              </a:ext>
            </a:extLst>
          </p:cNvPr>
          <p:cNvCxnSpPr>
            <a:cxnSpLocks/>
            <a:stCxn id="28" idx="6"/>
          </p:cNvCxnSpPr>
          <p:nvPr/>
        </p:nvCxnSpPr>
        <p:spPr>
          <a:xfrm>
            <a:off x="5917246" y="5468036"/>
            <a:ext cx="28394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D7818126-AFEA-EB27-CB8D-4E7685F6B3AF}"/>
              </a:ext>
            </a:extLst>
          </p:cNvPr>
          <p:cNvSpPr txBox="1"/>
          <p:nvPr/>
        </p:nvSpPr>
        <p:spPr>
          <a:xfrm>
            <a:off x="970151" y="4842327"/>
            <a:ext cx="25026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Determine input format &amp; which translate tool to use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Determine query to pass to RAG search</a:t>
            </a:r>
          </a:p>
          <a:p>
            <a:pPr marL="171450" indent="-171450">
              <a:buFontTx/>
              <a:buChar char="-"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Determine query to pass to literature search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4E700CE-7CB7-1994-D47F-471DA5E1A4DD}"/>
              </a:ext>
            </a:extLst>
          </p:cNvPr>
          <p:cNvSpPr txBox="1"/>
          <p:nvPr/>
        </p:nvSpPr>
        <p:spPr>
          <a:xfrm>
            <a:off x="5739516" y="2264431"/>
            <a:ext cx="1864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Multiple tools may be decided in a single step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68C1652-05CA-E04D-7694-3BCE7391F791}"/>
              </a:ext>
            </a:extLst>
          </p:cNvPr>
          <p:cNvSpPr/>
          <p:nvPr/>
        </p:nvSpPr>
        <p:spPr>
          <a:xfrm>
            <a:off x="4584224" y="499288"/>
            <a:ext cx="4181246" cy="3445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Tools memory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1B9536B-FD03-402F-E769-FA31EFF5139A}"/>
              </a:ext>
            </a:extLst>
          </p:cNvPr>
          <p:cNvSpPr/>
          <p:nvPr/>
        </p:nvSpPr>
        <p:spPr>
          <a:xfrm>
            <a:off x="4577789" y="890296"/>
            <a:ext cx="4181246" cy="3445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RAG memory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3C40FF2-7066-3F25-97C5-BF5EECFD1017}"/>
              </a:ext>
            </a:extLst>
          </p:cNvPr>
          <p:cNvSpPr/>
          <p:nvPr/>
        </p:nvSpPr>
        <p:spPr>
          <a:xfrm>
            <a:off x="4581006" y="1288393"/>
            <a:ext cx="4181246" cy="3445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Literature memory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081C72B-1D49-9FAB-C664-478682CE91F9}"/>
              </a:ext>
            </a:extLst>
          </p:cNvPr>
          <p:cNvSpPr/>
          <p:nvPr/>
        </p:nvSpPr>
        <p:spPr>
          <a:xfrm>
            <a:off x="4570328" y="1684273"/>
            <a:ext cx="4181246" cy="3445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Main memory</a:t>
            </a:r>
          </a:p>
        </p:txBody>
      </p: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22DEFF10-1C30-6F7B-3067-BE08A39FCE97}"/>
              </a:ext>
            </a:extLst>
          </p:cNvPr>
          <p:cNvCxnSpPr>
            <a:stCxn id="92" idx="0"/>
            <a:endCxn id="91" idx="0"/>
          </p:cNvCxnSpPr>
          <p:nvPr/>
        </p:nvCxnSpPr>
        <p:spPr>
          <a:xfrm rot="16200000" flipV="1">
            <a:off x="6577747" y="-400464"/>
            <a:ext cx="12700" cy="7304252"/>
          </a:xfrm>
          <a:prstGeom prst="bentConnector3">
            <a:avLst>
              <a:gd name="adj1" fmla="val 24050000"/>
            </a:avLst>
          </a:prstGeom>
          <a:ln w="7620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141C4A48-F39B-2A0B-126D-4AA34C8FD515}"/>
              </a:ext>
            </a:extLst>
          </p:cNvPr>
          <p:cNvCxnSpPr>
            <a:stCxn id="34" idx="1"/>
            <a:endCxn id="13" idx="0"/>
          </p:cNvCxnSpPr>
          <p:nvPr/>
        </p:nvCxnSpPr>
        <p:spPr>
          <a:xfrm rot="10800000">
            <a:off x="5283749" y="2690296"/>
            <a:ext cx="3420236" cy="532720"/>
          </a:xfrm>
          <a:prstGeom prst="bentConnector4">
            <a:avLst>
              <a:gd name="adj1" fmla="val 175"/>
              <a:gd name="adj2" fmla="val 209019"/>
            </a:avLst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4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C34BE-9A86-8132-6373-46BEE2439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27" y="74141"/>
            <a:ext cx="11973697" cy="6864178"/>
          </a:xfrm>
        </p:spPr>
        <p:txBody>
          <a:bodyPr>
            <a:normAutofit lnSpcReduction="10000"/>
          </a:bodyPr>
          <a:lstStyle/>
          <a:p>
            <a:r>
              <a:rPr lang="en-US" sz="1100" b="1" dirty="0"/>
              <a:t>The </a:t>
            </a:r>
            <a:r>
              <a:rPr lang="en-US" sz="1100" b="1" dirty="0" err="1"/>
              <a:t>ToxPipe</a:t>
            </a:r>
            <a:r>
              <a:rPr lang="en-US" sz="1100" b="1" dirty="0"/>
              <a:t> agent is specifically designed to provided information when given specific chemical identifiers</a:t>
            </a:r>
          </a:p>
          <a:p>
            <a:r>
              <a:rPr lang="en-US" sz="1100" dirty="0"/>
              <a:t>Context/memory management</a:t>
            </a:r>
          </a:p>
          <a:p>
            <a:pPr lvl="1"/>
            <a:r>
              <a:rPr lang="en-US" sz="1000" dirty="0"/>
              <a:t>Size (# tokens) – minorly affects speed, ability to recall</a:t>
            </a:r>
          </a:p>
          <a:p>
            <a:pPr lvl="2"/>
            <a:r>
              <a:rPr lang="en-US" sz="900" dirty="0"/>
              <a:t>Gets confused when abruptly switching subjects</a:t>
            </a:r>
          </a:p>
          <a:p>
            <a:pPr lvl="1"/>
            <a:r>
              <a:rPr lang="en-US" sz="1000" dirty="0"/>
              <a:t>When to prune?</a:t>
            </a:r>
          </a:p>
          <a:p>
            <a:pPr lvl="1"/>
            <a:r>
              <a:rPr lang="en-US" sz="1000" dirty="0"/>
              <a:t>Consider when making repeated calls to a single agent</a:t>
            </a:r>
          </a:p>
          <a:p>
            <a:pPr lvl="1"/>
            <a:r>
              <a:rPr lang="en-US" sz="1000" dirty="0"/>
              <a:t>Caching</a:t>
            </a:r>
          </a:p>
          <a:p>
            <a:pPr lvl="2"/>
            <a:r>
              <a:rPr lang="en-US" sz="900" dirty="0"/>
              <a:t>Use memory/context to avoid making same calls repeatedly</a:t>
            </a:r>
          </a:p>
          <a:p>
            <a:r>
              <a:rPr lang="en-US" sz="1100" dirty="0"/>
              <a:t>Runtime</a:t>
            </a:r>
          </a:p>
          <a:p>
            <a:pPr lvl="1"/>
            <a:r>
              <a:rPr lang="en-US" sz="1000" dirty="0"/>
              <a:t>Biggest factor – num. of output tokens – smaller response = faster </a:t>
            </a:r>
          </a:p>
          <a:p>
            <a:pPr lvl="1"/>
            <a:r>
              <a:rPr lang="en-US" sz="1000" dirty="0"/>
              <a:t>Parallelization</a:t>
            </a:r>
          </a:p>
          <a:p>
            <a:pPr lvl="2"/>
            <a:r>
              <a:rPr lang="en-US" sz="900" dirty="0"/>
              <a:t>Perform tool use/rag search/lit. search simultaneously to save time</a:t>
            </a:r>
          </a:p>
          <a:p>
            <a:r>
              <a:rPr lang="en-US" sz="1100" dirty="0"/>
              <a:t>When is it appropriate to use graph-based agents?</a:t>
            </a:r>
          </a:p>
          <a:p>
            <a:pPr lvl="1"/>
            <a:r>
              <a:rPr lang="en-US" sz="1000" dirty="0"/>
              <a:t>Like a Google search – broad question, defined ways to get there</a:t>
            </a:r>
          </a:p>
          <a:p>
            <a:pPr lvl="2"/>
            <a:r>
              <a:rPr lang="en-US" sz="900" dirty="0"/>
              <a:t>Defined use cases / “trains of thought” – specific tools in mind</a:t>
            </a:r>
          </a:p>
          <a:p>
            <a:pPr lvl="2"/>
            <a:r>
              <a:rPr lang="en-US" sz="900" dirty="0"/>
              <a:t>Multiple choices/tools to pick</a:t>
            </a:r>
          </a:p>
          <a:p>
            <a:pPr lvl="2"/>
            <a:r>
              <a:rPr lang="en-US" sz="900" dirty="0"/>
              <a:t>Need to hardcode these paths</a:t>
            </a:r>
          </a:p>
          <a:p>
            <a:pPr lvl="2"/>
            <a:r>
              <a:rPr lang="en-US" sz="900" dirty="0"/>
              <a:t>i.e., “What is the function of Aspirin?”</a:t>
            </a:r>
          </a:p>
          <a:p>
            <a:pPr lvl="3"/>
            <a:r>
              <a:rPr lang="en-US" sz="800" dirty="0"/>
              <a:t>Targets, interactions, diseases, usage in products, genes, etc.</a:t>
            </a:r>
          </a:p>
          <a:p>
            <a:pPr lvl="1"/>
            <a:r>
              <a:rPr lang="en-US" sz="1000" dirty="0"/>
              <a:t>Complex queries that require multiple parts</a:t>
            </a:r>
          </a:p>
          <a:p>
            <a:pPr lvl="1"/>
            <a:r>
              <a:rPr lang="en-US" sz="1000" dirty="0"/>
              <a:t>When you need to explicitly make the agent perform certain tasks in a certain order – high level of config/control over agent behavior</a:t>
            </a:r>
          </a:p>
          <a:p>
            <a:r>
              <a:rPr lang="en-US" sz="1100" dirty="0"/>
              <a:t>Transparency, reliability, and reproducibility</a:t>
            </a:r>
          </a:p>
          <a:p>
            <a:pPr lvl="1"/>
            <a:r>
              <a:rPr lang="en-US" sz="1000" dirty="0"/>
              <a:t>Include sources for data – easy to do since we can control tool output</a:t>
            </a:r>
          </a:p>
          <a:p>
            <a:pPr lvl="1"/>
            <a:r>
              <a:rPr lang="en-US" sz="1000" dirty="0"/>
              <a:t>Add stipulation in prompt engineering – could also force inclusion with output parsing</a:t>
            </a:r>
          </a:p>
          <a:p>
            <a:r>
              <a:rPr lang="en-US" sz="1100" dirty="0"/>
              <a:t>Future-proofing</a:t>
            </a:r>
          </a:p>
          <a:p>
            <a:pPr lvl="1"/>
            <a:r>
              <a:rPr lang="en-US" sz="1000" dirty="0"/>
              <a:t>Tools are useful for adding new functionality w/o needing to retrain/build models</a:t>
            </a:r>
          </a:p>
          <a:p>
            <a:pPr lvl="1"/>
            <a:r>
              <a:rPr lang="en-US" sz="1000" dirty="0"/>
              <a:t>RAG search database can be appended to with new documents</a:t>
            </a:r>
          </a:p>
          <a:p>
            <a:r>
              <a:rPr lang="en-US" sz="1100" dirty="0"/>
              <a:t>API limitations</a:t>
            </a:r>
          </a:p>
          <a:p>
            <a:pPr lvl="1"/>
            <a:r>
              <a:rPr lang="en-US" sz="1000" dirty="0"/>
              <a:t>Accessing PubMed – rate limit, large # files takes longer</a:t>
            </a:r>
          </a:p>
          <a:p>
            <a:r>
              <a:rPr lang="en-US" sz="1100" dirty="0"/>
              <a:t>Tool selection</a:t>
            </a:r>
          </a:p>
          <a:p>
            <a:pPr lvl="1"/>
            <a:r>
              <a:rPr lang="en-US" sz="1000" dirty="0"/>
              <a:t>GPT-4o can make multiple tool calls in a single stage, so only need to do one deliberation stage</a:t>
            </a:r>
          </a:p>
          <a:p>
            <a:pPr lvl="1"/>
            <a:r>
              <a:rPr lang="en-US" sz="1000" dirty="0"/>
              <a:t>Standardize tool input to avoid errors</a:t>
            </a:r>
          </a:p>
          <a:p>
            <a:pPr lvl="1"/>
            <a:r>
              <a:rPr lang="en-US" sz="1000" dirty="0"/>
              <a:t>Prompt engineering</a:t>
            </a:r>
          </a:p>
          <a:p>
            <a:pPr lvl="2"/>
            <a:r>
              <a:rPr lang="en-US" sz="1000" dirty="0"/>
              <a:t>Improve tool descriptions to be more informative of when to use a given tool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48106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422</Words>
  <Application>Microsoft Office PowerPoint</Application>
  <PresentationFormat>Widescreen</PresentationFormat>
  <Paragraphs>59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NIEHS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Combs, Parker (NIH/NIEHS) [C]</dc:creator>
  <cp:lastModifiedBy>Combs, Parker (NIH/NIEHS) [C]</cp:lastModifiedBy>
  <cp:revision>133</cp:revision>
  <dcterms:created xsi:type="dcterms:W3CDTF">2025-03-19T13:33:47Z</dcterms:created>
  <dcterms:modified xsi:type="dcterms:W3CDTF">2025-05-14T19:10:20Z</dcterms:modified>
</cp:coreProperties>
</file>